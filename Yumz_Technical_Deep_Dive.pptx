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70832" y="0"/>
            <a:ext cx="36576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645920"/>
            <a:ext cx="3749039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6200" b="1">
                <a:solidFill>
                  <a:srgbClr val="F59E0B"/>
                </a:solidFill>
                <a:latin typeface="Trebuchet MS"/>
              </a:defRPr>
            </a:pPr>
            <a:r>
              <a:t>YUMZ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E6EDF3"/>
                </a:solidFill>
                <a:latin typeface="Trebuchet MS"/>
              </a:rPr>
              <a:t>Technical Architecture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6E7681"/>
                </a:solidFill>
                <a:latin typeface="Calibri"/>
              </a:rPr>
              <a:t>Deep Dive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371600"/>
            <a:ext cx="694944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388BFD"/>
                </a:solidFill>
                <a:latin typeface="Trebuchet MS"/>
              </a:defRPr>
            </a:pPr>
            <a:r>
              <a:t>Topics Covered</a:t>
            </a:r>
          </a:p>
          <a:p>
            <a:pPr>
              <a:spcBef>
                <a:spcPts val="300"/>
              </a:spcBef>
              <a:spcAft>
                <a:spcPts val="1000"/>
              </a:spcAft>
            </a:pPr>
            <a:r>
              <a:rPr sz="1300" b="1">
                <a:solidFill>
                  <a:srgbClr val="F59E0B"/>
                </a:solidFill>
                <a:latin typeface="Consolas"/>
              </a:rPr>
              <a:t>  01  </a:t>
            </a:r>
            <a:r>
              <a:rPr sz="1400">
                <a:solidFill>
                  <a:srgbClr val="E6EDF3"/>
                </a:solidFill>
                <a:latin typeface="Calibri"/>
              </a:rPr>
              <a:t>Internal &amp; External APIs</a:t>
            </a:r>
          </a:p>
          <a:p>
            <a:pPr>
              <a:spcBef>
                <a:spcPts val="300"/>
              </a:spcBef>
              <a:spcAft>
                <a:spcPts val="1000"/>
              </a:spcAft>
            </a:pPr>
            <a:r>
              <a:rPr sz="1300" b="1">
                <a:solidFill>
                  <a:srgbClr val="388BFD"/>
                </a:solidFill>
                <a:latin typeface="Consolas"/>
              </a:rPr>
              <a:t>  02  </a:t>
            </a:r>
            <a:r>
              <a:rPr sz="1400">
                <a:solidFill>
                  <a:srgbClr val="E6EDF3"/>
                </a:solidFill>
                <a:latin typeface="Calibri"/>
              </a:rPr>
              <a:t>App Folder Structure</a:t>
            </a:r>
          </a:p>
          <a:p>
            <a:pPr>
              <a:spcBef>
                <a:spcPts val="300"/>
              </a:spcBef>
              <a:spcAft>
                <a:spcPts val="1000"/>
              </a:spcAft>
            </a:pPr>
            <a:r>
              <a:rPr sz="1300" b="1">
                <a:solidFill>
                  <a:srgbClr val="A371F7"/>
                </a:solidFill>
                <a:latin typeface="Consolas"/>
              </a:rPr>
              <a:t>  03  </a:t>
            </a:r>
            <a:r>
              <a:rPr sz="1400">
                <a:solidFill>
                  <a:srgbClr val="E6EDF3"/>
                </a:solidFill>
                <a:latin typeface="Calibri"/>
              </a:rPr>
              <a:t>Laravel Reverb Setup</a:t>
            </a:r>
          </a:p>
          <a:p>
            <a:pPr>
              <a:spcBef>
                <a:spcPts val="300"/>
              </a:spcBef>
              <a:spcAft>
                <a:spcPts val="1000"/>
              </a:spcAft>
            </a:pPr>
            <a:r>
              <a:rPr sz="1300" b="1">
                <a:solidFill>
                  <a:srgbClr val="23C55E"/>
                </a:solidFill>
                <a:latin typeface="Consolas"/>
              </a:rPr>
              <a:t>  04  </a:t>
            </a:r>
            <a:r>
              <a:rPr sz="1400">
                <a:solidFill>
                  <a:srgbClr val="E6EDF3"/>
                </a:solidFill>
                <a:latin typeface="Calibri"/>
              </a:rPr>
              <a:t>Docker Configuration</a:t>
            </a:r>
          </a:p>
          <a:p>
            <a:pPr>
              <a:spcBef>
                <a:spcPts val="300"/>
              </a:spcBef>
              <a:spcAft>
                <a:spcPts val="1000"/>
              </a:spcAft>
            </a:pPr>
            <a:r>
              <a:rPr sz="1300" b="1">
                <a:solidFill>
                  <a:srgbClr val="F85149"/>
                </a:solidFill>
                <a:latin typeface="Consolas"/>
              </a:rPr>
              <a:t>  05  </a:t>
            </a:r>
            <a:r>
              <a:rPr sz="1400">
                <a:solidFill>
                  <a:srgbClr val="E6EDF3"/>
                </a:solidFill>
                <a:latin typeface="Calibri"/>
              </a:rPr>
              <a:t>Database Setup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F59E0B"/>
                </a:solidFill>
                <a:latin typeface="Trebuchet MS"/>
              </a:defRPr>
            </a:pPr>
            <a:r>
              <a:t>01A  External API — Frankfurter Currency Service</a:t>
            </a:r>
          </a:p>
          <a:p>
            <a:pPr>
              <a:spcBef>
                <a:spcPts val="0"/>
              </a:spcBef>
            </a:pPr>
            <a:r>
              <a:rPr sz="1200">
                <a:solidFill>
                  <a:srgbClr val="6E7681"/>
                </a:solidFill>
                <a:latin typeface="Calibri"/>
              </a:rPr>
              <a:t>https://api.frankfurter.app/latest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96112"/>
            <a:ext cx="11064240" cy="15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5577840" cy="5349240"/>
          </a:xfrm>
          <a:prstGeom prst="roundRect">
            <a:avLst/>
          </a:prstGeom>
          <a:solidFill>
            <a:srgbClr val="161B22"/>
          </a:solidFill>
          <a:ln w="1778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34440"/>
            <a:ext cx="5303520" cy="5120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59E0B"/>
                </a:solidFill>
                <a:latin typeface="Trebuchet MS"/>
              </a:defRPr>
            </a:pPr>
            <a:r>
              <a:t>What &amp; Why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b="1" sz="1200">
                <a:solidFill>
                  <a:srgbClr val="F59E0B"/>
                </a:solidFill>
                <a:latin typeface="Consolas"/>
              </a:rPr>
              <a:t>  Provider:</a:t>
            </a:r>
            <a:r>
              <a:rPr b="0" sz="1200">
                <a:solidFill>
                  <a:srgbClr val="E6EDF3"/>
                </a:solidFill>
                <a:latin typeface="Calibri"/>
              </a:rPr>
              <a:t> Frankfurter API — free, ECB-backed live FX rates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b="1" sz="1200">
                <a:solidFill>
                  <a:srgbClr val="F59E0B"/>
                </a:solidFill>
                <a:latin typeface="Consolas"/>
              </a:rPr>
              <a:t>  Purpose:</a:t>
            </a:r>
            <a:r>
              <a:rPr b="0" sz="1200">
                <a:solidFill>
                  <a:srgbClr val="E6EDF3"/>
                </a:solidFill>
                <a:latin typeface="Calibri"/>
              </a:rPr>
              <a:t> Convert prices between IDR, MYR, SGD for regional users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b="1" sz="1200">
                <a:solidFill>
                  <a:srgbClr val="F59E0B"/>
                </a:solidFill>
                <a:latin typeface="Consolas"/>
              </a:rPr>
              <a:t>  File:</a:t>
            </a:r>
            <a:r>
              <a:rPr b="0" sz="1200">
                <a:solidFill>
                  <a:srgbClr val="E6EDF3"/>
                </a:solidFill>
                <a:latin typeface="Calibri"/>
              </a:rPr>
              <a:t> app/Services/CurrencyService.php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b="1" sz="1200">
                <a:solidFill>
                  <a:srgbClr val="F59E0B"/>
                </a:solidFill>
                <a:latin typeface="Consolas"/>
              </a:rPr>
              <a:t>  HTTP Client:</a:t>
            </a:r>
            <a:r>
              <a:rPr b="0" sz="1200">
                <a:solidFill>
                  <a:srgbClr val="E6EDF3"/>
                </a:solidFill>
                <a:latin typeface="Calibri"/>
              </a:rPr>
              <a:t> Laravel Http::timeout(5)-&gt;get(...)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b="1" sz="1200">
                <a:solidFill>
                  <a:srgbClr val="F59E0B"/>
                </a:solidFill>
                <a:latin typeface="Consolas"/>
              </a:rPr>
              <a:t>  Endpoint:</a:t>
            </a:r>
            <a:r>
              <a:rPr b="0" sz="1200">
                <a:solidFill>
                  <a:srgbClr val="E6EDF3"/>
                </a:solidFill>
                <a:latin typeface="Calibri"/>
              </a:rPr>
              <a:t> https://api.frankfurter.app/latest?base=IDR&amp;symbols=SGD,MYR</a:t>
            </a:r>
          </a:p>
          <a:p>
            <a:pPr>
              <a:spcBef>
                <a:spcPts val="800"/>
              </a:spcBef>
            </a:pPr>
          </a:p>
          <a:p>
            <a:r>
              <a:rPr b="1" sz="1300">
                <a:solidFill>
                  <a:srgbClr val="F59E0B"/>
                </a:solidFill>
              </a:rPr>
              <a:t>  Resilience Layers: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100">
                <a:solidFill>
                  <a:srgbClr val="6E7681"/>
                </a:solidFill>
                <a:latin typeface="Calibri"/>
              </a:rPr>
              <a:t>  5-second timeout guard on every API call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b="1" sz="1100">
                <a:solidFill>
                  <a:srgbClr val="F59E0B"/>
                </a:solidFill>
                <a:latin typeface="Consolas"/>
              </a:rPr>
              <a:t>  Redis cache:</a:t>
            </a:r>
            <a:r>
              <a:rPr b="0" sz="1100">
                <a:solidFill>
                  <a:srgbClr val="6E7681"/>
                </a:solidFill>
                <a:latin typeface="Calibri"/>
              </a:rPr>
              <a:t> rates stored 1 hour (TTL=3600s)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100">
                <a:solidFill>
                  <a:srgbClr val="6E7681"/>
                </a:solidFill>
                <a:latin typeface="Calibri"/>
              </a:rPr>
              <a:t>  File cache fallback if Redis is unavailable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100">
                <a:solidFill>
                  <a:srgbClr val="6E7681"/>
                </a:solidFill>
                <a:latin typeface="Calibri"/>
              </a:rPr>
              <a:t>  Static hardcoded fallback rates if API is down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97280"/>
            <a:ext cx="5532120" cy="5349240"/>
          </a:xfrm>
          <a:prstGeom prst="roundRect">
            <a:avLst/>
          </a:prstGeom>
          <a:solidFill>
            <a:srgbClr val="161B22"/>
          </a:solidFill>
          <a:ln w="1778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234440"/>
            <a:ext cx="5303520" cy="5120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58A6FF"/>
                </a:solidFill>
                <a:latin typeface="Trebuchet MS"/>
              </a:defRPr>
            </a:pPr>
            <a:r>
              <a:t>Key Methods in CurrencyService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58A6FF"/>
                </a:solidFill>
                <a:latin typeface="Consolas"/>
              </a:rPr>
              <a:t>  getRates(base)</a:t>
            </a:r>
            <a:r>
              <a:rPr sz="1000">
                <a:solidFill>
                  <a:srgbClr val="6E7681"/>
                </a:solidFill>
                <a:latin typeface="Calibri"/>
              </a:rPr>
              <a:t>
      → Fetches all rates from API, caches to Redis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58A6FF"/>
                </a:solidFill>
                <a:latin typeface="Consolas"/>
              </a:rPr>
              <a:t>  getRate(from, to)</a:t>
            </a:r>
            <a:r>
              <a:rPr sz="1000">
                <a:solidFill>
                  <a:srgbClr val="6E7681"/>
                </a:solidFill>
                <a:latin typeface="Calibri"/>
              </a:rPr>
              <a:t>
      → Returns float conversion multiplier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58A6FF"/>
                </a:solidFill>
                <a:latin typeface="Consolas"/>
              </a:rPr>
              <a:t>  convert(amount, from, to)</a:t>
            </a:r>
            <a:r>
              <a:rPr sz="1000">
                <a:solidFill>
                  <a:srgbClr val="6E7681"/>
                </a:solidFill>
                <a:latin typeface="Calibri"/>
              </a:rPr>
              <a:t>
      → Returns rounded converted amount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58A6FF"/>
                </a:solidFill>
                <a:latin typeface="Consolas"/>
              </a:rPr>
              <a:t>  formatAmount(amount, currency)</a:t>
            </a:r>
            <a:r>
              <a:rPr sz="1000">
                <a:solidFill>
                  <a:srgbClr val="6E7681"/>
                </a:solidFill>
                <a:latin typeface="Calibri"/>
              </a:rPr>
              <a:t>
      → Returns formatted string (Rp / S$ / RM)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58A6FF"/>
                </a:solidFill>
                <a:latin typeface="Consolas"/>
              </a:rPr>
              <a:t>  getAllRatesForFrontend()</a:t>
            </a:r>
            <a:r>
              <a:rPr sz="1000">
                <a:solidFill>
                  <a:srgbClr val="6E7681"/>
                </a:solidFill>
                <a:latin typeface="Calibri"/>
              </a:rPr>
              <a:t>
      → Returns JSON-ready rates + timestamp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58A6FF"/>
                </a:solidFill>
                <a:latin typeface="Consolas"/>
              </a:rPr>
              <a:t>  clearCache()</a:t>
            </a:r>
            <a:r>
              <a:rPr sz="1000">
                <a:solidFill>
                  <a:srgbClr val="6E7681"/>
                </a:solidFill>
                <a:latin typeface="Calibri"/>
              </a:rPr>
              <a:t>
      → Wipes Redis cache (useful for testing)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58A6FF"/>
                </a:solidFill>
                <a:latin typeface="Consolas"/>
              </a:rPr>
              <a:t>  isUsingFallback()</a:t>
            </a:r>
            <a:r>
              <a:rPr sz="1000">
                <a:solidFill>
                  <a:srgbClr val="6E7681"/>
                </a:solidFill>
                <a:latin typeface="Calibri"/>
              </a:rPr>
              <a:t>
      → Health check — returns true if API is down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388BFD"/>
                </a:solidFill>
                <a:latin typeface="Trebuchet MS"/>
              </a:defRPr>
            </a:pPr>
            <a:r>
              <a:t>01B  Internal AJAX API Endpoints</a:t>
            </a:r>
          </a:p>
          <a:p>
            <a:pPr>
              <a:spcBef>
                <a:spcPts val="0"/>
              </a:spcBef>
            </a:pPr>
            <a:r>
              <a:rPr sz="1200">
                <a:solidFill>
                  <a:srgbClr val="6E7681"/>
                </a:solidFill>
                <a:latin typeface="Calibri"/>
              </a:rPr>
              <a:t>All routes defined in routes/web.php under /api/ prefix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96112"/>
            <a:ext cx="11064240" cy="15240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1292840" cy="320040"/>
          </a:xfrm>
          <a:prstGeom prst="rect">
            <a:avLst/>
          </a:prstGeom>
          <a:solidFill>
            <a:srgbClr val="1E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78992"/>
            <a:ext cx="74980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6E7681"/>
                </a:solidFill>
                <a:latin typeface="Trebuchet MS"/>
              </a:rPr>
              <a:t>Method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078992"/>
            <a:ext cx="3794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6E7681"/>
                </a:solidFill>
                <a:latin typeface="Trebuchet MS"/>
              </a:rPr>
              <a:t>Endpoint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1078992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6E7681"/>
                </a:solidFill>
                <a:latin typeface="Trebuchet MS"/>
              </a:rPr>
              <a:t>Controller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799" y="1078992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6E7681"/>
                </a:solidFill>
                <a:latin typeface="Trebuchet MS"/>
              </a:rPr>
              <a:t>Purpose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389888"/>
            <a:ext cx="11292840" cy="84124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1208" y="1682496"/>
            <a:ext cx="521208" cy="256032"/>
          </a:xfrm>
          <a:prstGeom prst="roundRect">
            <a:avLst/>
          </a:prstGeom>
          <a:solidFill>
            <a:srgbClr val="3D270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tIns="0" rIns="54864" bIns="0"/>
          <a:lstStyle/>
          <a:p>
            <a:pPr algn="ctr">
              <a:defRPr sz="900" b="1">
                <a:solidFill>
                  <a:srgbClr val="F59E0B"/>
                </a:solidFill>
                <a:latin typeface="Consolas"/>
              </a:defRPr>
            </a:pPr>
            <a:r>
              <a:t>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527048"/>
            <a:ext cx="3794760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F59E0B"/>
                </a:solidFill>
                <a:latin typeface="Consolas"/>
              </a:rPr>
              <a:t>/api/currency/rates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1527048"/>
            <a:ext cx="2377440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58A6FF"/>
                </a:solidFill>
                <a:latin typeface="Calibri"/>
              </a:rPr>
              <a:t>CurrencyController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799" y="1499616"/>
            <a:ext cx="4023360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E6EDF3"/>
                </a:solidFill>
                <a:latin typeface="Calibri"/>
              </a:rPr>
              <a:t>Returns all live IDR-base exchange rates as JSON for frontend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231136"/>
            <a:ext cx="11292840" cy="841248"/>
          </a:xfrm>
          <a:prstGeom prst="rect">
            <a:avLst/>
          </a:prstGeom>
          <a:solidFill>
            <a:srgbClr val="1E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21208" y="2523744"/>
            <a:ext cx="521208" cy="256032"/>
          </a:xfrm>
          <a:prstGeom prst="roundRect">
            <a:avLst/>
          </a:prstGeom>
          <a:solidFill>
            <a:srgbClr val="3D270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tIns="0" rIns="54864" bIns="0"/>
          <a:lstStyle/>
          <a:p>
            <a:pPr algn="ctr">
              <a:defRPr sz="900" b="1">
                <a:solidFill>
                  <a:srgbClr val="F59E0B"/>
                </a:solidFill>
                <a:latin typeface="Consolas"/>
              </a:defRPr>
            </a:pPr>
            <a:r>
              <a:t>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368296"/>
            <a:ext cx="3794760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F59E0B"/>
                </a:solidFill>
                <a:latin typeface="Consolas"/>
              </a:rPr>
              <a:t>/api/currency/convert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368296"/>
            <a:ext cx="2377440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58A6FF"/>
                </a:solidFill>
                <a:latin typeface="Calibri"/>
              </a:rPr>
              <a:t>CurrencyController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799" y="2340864"/>
            <a:ext cx="4023360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E6EDF3"/>
                </a:solidFill>
                <a:latin typeface="Calibri"/>
              </a:rPr>
              <a:t>Converts amount between IDR/SGD/MYR; returns original + converted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072384"/>
            <a:ext cx="11292840" cy="84124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21208" y="3364992"/>
            <a:ext cx="521208" cy="256032"/>
          </a:xfrm>
          <a:prstGeom prst="roundRect">
            <a:avLst/>
          </a:prstGeom>
          <a:solidFill>
            <a:srgbClr val="083117"/>
          </a:solidFill>
          <a:ln w="12700">
            <a:solidFill>
              <a:srgbClr val="23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tIns="0" rIns="54864" bIns="0"/>
          <a:lstStyle/>
          <a:p>
            <a:pPr algn="ctr">
              <a:defRPr sz="900" b="1">
                <a:solidFill>
                  <a:srgbClr val="23C55E"/>
                </a:solidFill>
                <a:latin typeface="Consolas"/>
              </a:defRPr>
            </a:pPr>
            <a:r>
              <a:t>GET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3209544"/>
            <a:ext cx="3794760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23C55E"/>
                </a:solidFill>
                <a:latin typeface="Consolas"/>
              </a:rPr>
              <a:t>/api/orders/{order}/status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3209544"/>
            <a:ext cx="2377440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58A6FF"/>
                </a:solidFill>
                <a:latin typeface="Calibri"/>
              </a:rPr>
              <a:t>DashboardController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43799" y="3182112"/>
            <a:ext cx="4023360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E6EDF3"/>
                </a:solidFill>
                <a:latin typeface="Calibri"/>
              </a:rPr>
              <a:t>Returns order status string for the stepper UI polling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913632"/>
            <a:ext cx="11292840" cy="841248"/>
          </a:xfrm>
          <a:prstGeom prst="rect">
            <a:avLst/>
          </a:prstGeom>
          <a:solidFill>
            <a:srgbClr val="1E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21208" y="4206240"/>
            <a:ext cx="521208" cy="256032"/>
          </a:xfrm>
          <a:prstGeom prst="roundRect">
            <a:avLst/>
          </a:prstGeom>
          <a:solidFill>
            <a:srgbClr val="0E223F"/>
          </a:solidFill>
          <a:ln w="12700">
            <a:solidFill>
              <a:srgbClr val="388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tIns="0" rIns="54864" bIns="0"/>
          <a:lstStyle/>
          <a:p>
            <a:pPr algn="ctr">
              <a:defRPr sz="900" b="1">
                <a:solidFill>
                  <a:srgbClr val="388BFD"/>
                </a:solidFill>
                <a:latin typeface="Consolas"/>
              </a:defRPr>
            </a:pPr>
            <a:r>
              <a:t>GET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4050792"/>
            <a:ext cx="3794760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388BFD"/>
                </a:solidFill>
                <a:latin typeface="Consolas"/>
              </a:rPr>
              <a:t>/api/chat/{room}/messages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4050792"/>
            <a:ext cx="2377440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58A6FF"/>
                </a:solidFill>
                <a:latin typeface="Calibri"/>
              </a:rPr>
              <a:t>ChatController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43799" y="4023360"/>
            <a:ext cx="4023360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E6EDF3"/>
                </a:solidFill>
                <a:latin typeface="Calibri"/>
              </a:rPr>
              <a:t>Fetches new messages (after last_id) for AJAX polling fallback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754880"/>
            <a:ext cx="11292840" cy="84124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21208" y="5047488"/>
            <a:ext cx="521208" cy="256032"/>
          </a:xfrm>
          <a:prstGeom prst="roundRect">
            <a:avLst/>
          </a:prstGeom>
          <a:solidFill>
            <a:srgbClr val="281C3D"/>
          </a:solidFill>
          <a:ln w="12700">
            <a:solidFill>
              <a:srgbClr val="A37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tIns="0" rIns="54864" bIns="0"/>
          <a:lstStyle/>
          <a:p>
            <a:pPr algn="ctr">
              <a:defRPr sz="900" b="1">
                <a:solidFill>
                  <a:srgbClr val="A371F7"/>
                </a:solidFill>
                <a:latin typeface="Consolas"/>
              </a:defRPr>
            </a:pPr>
            <a:r>
              <a:t>GET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4892040"/>
            <a:ext cx="3794760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A371F7"/>
                </a:solidFill>
                <a:latin typeface="Consolas"/>
              </a:rPr>
              <a:t>/api/notifications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40" y="4892040"/>
            <a:ext cx="2377440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58A6FF"/>
                </a:solidFill>
                <a:latin typeface="Calibri"/>
              </a:rPr>
              <a:t>NotificationController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43799" y="4864608"/>
            <a:ext cx="4023360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E6EDF3"/>
                </a:solidFill>
                <a:latin typeface="Calibri"/>
              </a:rPr>
              <a:t>Returns unread notifications + badge counts for nav bell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388BFD"/>
                </a:solidFill>
                <a:latin typeface="Trebuchet MS"/>
              </a:defRPr>
            </a:pPr>
            <a:r>
              <a:t>02A  App Folder Structure — Controllers &amp; Middleware</a:t>
            </a:r>
          </a:p>
          <a:p>
            <a:pPr>
              <a:spcBef>
                <a:spcPts val="0"/>
              </a:spcBef>
            </a:pPr>
            <a:r>
              <a:rPr sz="1200">
                <a:solidFill>
                  <a:srgbClr val="6E7681"/>
                </a:solidFill>
                <a:latin typeface="Calibri"/>
              </a:rPr>
              <a:t>app/Http/ directory breakdown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96112"/>
            <a:ext cx="11064240" cy="15240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051560"/>
            <a:ext cx="5394960" cy="5394960"/>
          </a:xfrm>
          <a:prstGeom prst="roundRect">
            <a:avLst/>
          </a:prstGeom>
          <a:solidFill>
            <a:srgbClr val="161B22"/>
          </a:solidFill>
          <a:ln w="17780">
            <a:solidFill>
              <a:srgbClr val="388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188720"/>
            <a:ext cx="5166360" cy="5166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88BFD"/>
                </a:solidFill>
                <a:latin typeface="Trebuchet MS"/>
              </a:defRPr>
            </a:pPr>
            <a:r>
              <a:t>Controllers  (app/Http/Controllers/)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58A6FF"/>
                </a:solidFill>
                <a:latin typeface="Consolas"/>
              </a:rPr>
              <a:t>  Auth/LoginController</a:t>
            </a:r>
            <a:r>
              <a:rPr sz="950">
                <a:solidFill>
                  <a:srgbClr val="6E7681"/>
                </a:solidFill>
                <a:latin typeface="Calibri"/>
              </a:rPr>
              <a:t> — Handles login, role redirect, logout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58A6FF"/>
                </a:solidFill>
                <a:latin typeface="Consolas"/>
              </a:rPr>
              <a:t>  Auth/RegisterController</a:t>
            </a:r>
            <a:r>
              <a:rPr sz="950">
                <a:solidFill>
                  <a:srgbClr val="6E7681"/>
                </a:solidFill>
                <a:latin typeface="Calibri"/>
              </a:rPr>
              <a:t> — Registers new customer or cooker accounts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388BFD"/>
                </a:solidFill>
                <a:latin typeface="Consolas"/>
              </a:rPr>
              <a:t>  DashboardController</a:t>
            </a:r>
            <a:r>
              <a:rPr sz="950">
                <a:solidFill>
                  <a:srgbClr val="6E7681"/>
                </a:solidFill>
                <a:latin typeface="Calibri"/>
              </a:rPr>
              <a:t> — Customer dashboard + order status API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388BFD"/>
                </a:solidFill>
                <a:latin typeface="Consolas"/>
              </a:rPr>
              <a:t>  CookerDashboardController</a:t>
            </a:r>
            <a:r>
              <a:rPr sz="950">
                <a:solidFill>
                  <a:srgbClr val="6E7681"/>
                </a:solidFill>
                <a:latin typeface="Calibri"/>
              </a:rPr>
              <a:t> — Cooker panel + order status updates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388BFD"/>
                </a:solidFill>
                <a:latin typeface="Consolas"/>
              </a:rPr>
              <a:t>  AdminDashboardController</a:t>
            </a:r>
            <a:r>
              <a:rPr sz="950">
                <a:solidFill>
                  <a:srgbClr val="6E7681"/>
                </a:solidFill>
                <a:latin typeface="Calibri"/>
              </a:rPr>
              <a:t> — Full admin CRUD (users, content, transactions)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388BFD"/>
                </a:solidFill>
                <a:latin typeface="Consolas"/>
              </a:rPr>
              <a:t>  CookerProfileController</a:t>
            </a:r>
            <a:r>
              <a:rPr sz="950">
                <a:solidFill>
                  <a:srgbClr val="6E7681"/>
                </a:solidFill>
                <a:latin typeface="Calibri"/>
              </a:rPr>
              <a:t> — Browse chefs, purchase recipes, book services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58A6FF"/>
                </a:solidFill>
                <a:latin typeface="Consolas"/>
              </a:rPr>
              <a:t>  cooker/RecipeController</a:t>
            </a:r>
            <a:r>
              <a:rPr sz="950">
                <a:solidFill>
                  <a:srgbClr val="6E7681"/>
                </a:solidFill>
                <a:latin typeface="Calibri"/>
              </a:rPr>
              <a:t> — Recipe CRUD for cookers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58A6FF"/>
                </a:solidFill>
                <a:latin typeface="Consolas"/>
              </a:rPr>
              <a:t>  cooker/CookingServiceController</a:t>
            </a:r>
            <a:r>
              <a:rPr sz="950">
                <a:solidFill>
                  <a:srgbClr val="6E7681"/>
                </a:solidFill>
                <a:latin typeface="Calibri"/>
              </a:rPr>
              <a:t> — Service CRUD for cookers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388BFD"/>
                </a:solidFill>
                <a:latin typeface="Consolas"/>
              </a:rPr>
              <a:t>  ChatController</a:t>
            </a:r>
            <a:r>
              <a:rPr sz="950">
                <a:solidFill>
                  <a:srgbClr val="6E7681"/>
                </a:solidFill>
                <a:latin typeface="Calibri"/>
              </a:rPr>
              <a:t> — Send/edit/delete messages + getMessages API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388BFD"/>
                </a:solidFill>
                <a:latin typeface="Consolas"/>
              </a:rPr>
              <a:t>  NotificationController</a:t>
            </a:r>
            <a:r>
              <a:rPr sz="950">
                <a:solidFill>
                  <a:srgbClr val="6E7681"/>
                </a:solidFill>
                <a:latin typeface="Calibri"/>
              </a:rPr>
              <a:t> — Bell badge API + mark-as-read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388BFD"/>
                </a:solidFill>
                <a:latin typeface="Consolas"/>
              </a:rPr>
              <a:t>  WalletController</a:t>
            </a:r>
            <a:r>
              <a:rPr sz="950">
                <a:solidFill>
                  <a:srgbClr val="6E7681"/>
                </a:solidFill>
                <a:latin typeface="Calibri"/>
              </a:rPr>
              <a:t> — Wallet top-up + balance view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388BFD"/>
                </a:solidFill>
                <a:latin typeface="Consolas"/>
              </a:rPr>
              <a:t>  UserProfileController</a:t>
            </a:r>
            <a:r>
              <a:rPr sz="950">
                <a:solidFill>
                  <a:srgbClr val="6E7681"/>
                </a:solidFill>
                <a:latin typeface="Calibri"/>
              </a:rPr>
              <a:t> — Edit profile + upload photo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F59E0B"/>
                </a:solidFill>
                <a:latin typeface="Consolas"/>
              </a:rPr>
              <a:t>  Api/CurrencyController</a:t>
            </a:r>
            <a:r>
              <a:rPr sz="950">
                <a:solidFill>
                  <a:srgbClr val="6E7681"/>
                </a:solidFill>
                <a:latin typeface="Calibri"/>
              </a:rPr>
              <a:t> — External + internal currency API endpoints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1051560"/>
            <a:ext cx="5669280" cy="2468880"/>
          </a:xfrm>
          <a:prstGeom prst="roundRect">
            <a:avLst/>
          </a:prstGeom>
          <a:solidFill>
            <a:srgbClr val="161B22"/>
          </a:solidFill>
          <a:ln w="17780">
            <a:solidFill>
              <a:srgbClr val="A37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188720"/>
            <a:ext cx="544068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A371F7"/>
                </a:solidFill>
                <a:latin typeface="Trebuchet MS"/>
              </a:defRPr>
            </a:pPr>
            <a:r>
              <a:t>Middleware  (app/Http/Middleware/)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b="1" sz="1100">
                <a:solidFill>
                  <a:srgbClr val="A371F7"/>
                </a:solidFill>
                <a:latin typeface="Consolas"/>
              </a:rPr>
              <a:t>  RoleMiddleware.php:</a:t>
            </a:r>
            <a:r>
              <a:rPr b="0" sz="1100">
                <a:solidFill>
                  <a:srgbClr val="E6EDF3"/>
                </a:solidFill>
                <a:latin typeface="Calibri"/>
              </a:rPr>
              <a:t> Guards routes by user role attribute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b="1" sz="1100">
                <a:solidFill>
                  <a:srgbClr val="F59E0B"/>
                </a:solidFill>
                <a:latin typeface="Consolas"/>
              </a:rPr>
              <a:t>  Checks:</a:t>
            </a:r>
            <a:r>
              <a:rPr b="0" sz="1100">
                <a:solidFill>
                  <a:srgbClr val="6E7681"/>
                </a:solidFill>
                <a:latin typeface="Calibri"/>
              </a:rPr>
              <a:t> $user-&gt;role === 'cooker' / 'admin'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>
                <a:solidFill>
                  <a:srgbClr val="6E7681"/>
                </a:solidFill>
                <a:latin typeface="Calibri"/>
              </a:rPr>
              <a:t>  Returns 403 Forbidden on unauthorized access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b="1" sz="1100">
                <a:solidFill>
                  <a:srgbClr val="F59E0B"/>
                </a:solidFill>
                <a:latin typeface="Consolas"/>
              </a:rPr>
              <a:t>  Applied via:</a:t>
            </a:r>
            <a:r>
              <a:rPr b="0" sz="1100">
                <a:solidFill>
                  <a:srgbClr val="6E7681"/>
                </a:solidFill>
                <a:latin typeface="Calibri"/>
              </a:rPr>
              <a:t> Route::middleware('role:cooker')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3749039"/>
            <a:ext cx="5669280" cy="2697480"/>
          </a:xfrm>
          <a:prstGeom prst="roundRect">
            <a:avLst/>
          </a:prstGeom>
          <a:solidFill>
            <a:srgbClr val="161B22"/>
          </a:solidFill>
          <a:ln w="17780">
            <a:solidFill>
              <a:srgbClr val="23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3886200"/>
            <a:ext cx="5440680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3C55E"/>
                </a:solidFill>
                <a:latin typeface="Trebuchet MS"/>
              </a:defRPr>
            </a:pPr>
            <a:r>
              <a:t>Providers  (app/Providers/)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b="1" sz="1100">
                <a:solidFill>
                  <a:srgbClr val="23C55E"/>
                </a:solidFill>
                <a:latin typeface="Consolas"/>
              </a:rPr>
              <a:t>  AppServiceProvider.php:</a:t>
            </a:r>
            <a:r>
              <a:rPr b="0" sz="1100">
                <a:solidFill>
                  <a:srgbClr val="E6EDF3"/>
                </a:solidFill>
                <a:latin typeface="Calibri"/>
              </a:rPr>
              <a:t> Single service provider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b="1" sz="1100">
                <a:solidFill>
                  <a:srgbClr val="F59E0B"/>
                </a:solidFill>
                <a:latin typeface="Consolas"/>
              </a:rPr>
              <a:t>  Registers:</a:t>
            </a:r>
            <a:r>
              <a:rPr b="0" sz="1100">
                <a:solidFill>
                  <a:srgbClr val="6E7681"/>
                </a:solidFill>
                <a:latin typeface="Calibri"/>
              </a:rPr>
              <a:t> CurrencyService as a singleton binding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b="1" sz="1100">
                <a:solidFill>
                  <a:srgbClr val="F59E0B"/>
                </a:solidFill>
                <a:latin typeface="Consolas"/>
              </a:rPr>
              <a:t>  Boot:</a:t>
            </a:r>
            <a:r>
              <a:rPr b="0" sz="1100">
                <a:solidFill>
                  <a:srgbClr val="6E7681"/>
                </a:solidFill>
                <a:latin typeface="Calibri"/>
              </a:rPr>
              <a:t> Applies any model observers or macro definitions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388BFD"/>
                </a:solidFill>
                <a:latin typeface="Trebuchet MS"/>
              </a:defRPr>
            </a:pPr>
            <a:r>
              <a:t>02B  App Folder Structure — Models, Events &amp; Services</a:t>
            </a:r>
          </a:p>
          <a:p>
            <a:pPr>
              <a:spcBef>
                <a:spcPts val="0"/>
              </a:spcBef>
            </a:pPr>
            <a:r>
              <a:rPr sz="1200">
                <a:solidFill>
                  <a:srgbClr val="6E7681"/>
                </a:solidFill>
                <a:latin typeface="Calibri"/>
              </a:rPr>
              <a:t>app/ directory — core domain classes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96112"/>
            <a:ext cx="11064240" cy="15240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051560"/>
            <a:ext cx="3749039" cy="5394960"/>
          </a:xfrm>
          <a:prstGeom prst="roundRect">
            <a:avLst/>
          </a:prstGeom>
          <a:solidFill>
            <a:srgbClr val="161B22"/>
          </a:solidFill>
          <a:ln w="1778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188720"/>
            <a:ext cx="3520440" cy="5166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59E0B"/>
                </a:solidFill>
                <a:latin typeface="Trebuchet MS"/>
              </a:defRPr>
            </a:pPr>
            <a:r>
              <a:t>Models  (app/Models/)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Consolas"/>
              </a:rPr>
              <a:t>  User</a:t>
            </a:r>
            <a:r>
              <a:rPr sz="900">
                <a:solidFill>
                  <a:srgbClr val="6E7681"/>
                </a:solidFill>
                <a:latin typeface="Calibri"/>
              </a:rPr>
              <a:t>
      Core entity — role, wallet_balance, country, suspension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Consolas"/>
              </a:rPr>
              <a:t>  Recipe</a:t>
            </a:r>
            <a:r>
              <a:rPr sz="900">
                <a:solidFill>
                  <a:srgbClr val="6E7681"/>
                </a:solidFill>
                <a:latin typeface="Calibri"/>
              </a:rPr>
              <a:t>
      Title, price, currency, category, halal, is_published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Consolas"/>
              </a:rPr>
              <a:t>  RecipePurchase</a:t>
            </a:r>
            <a:r>
              <a:rPr sz="900">
                <a:solidFill>
                  <a:srgbClr val="6E7681"/>
                </a:solidFill>
                <a:latin typeface="Calibri"/>
              </a:rPr>
              <a:t>
      Links customer → recipe + rating/review data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Consolas"/>
              </a:rPr>
              <a:t>  CookingService</a:t>
            </a:r>
            <a:r>
              <a:rPr sz="900">
                <a:solidFill>
                  <a:srgbClr val="6E7681"/>
                </a:solidFill>
                <a:latin typeface="Calibri"/>
              </a:rPr>
              <a:t>
      Chef service listing with price, availability toggle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Consolas"/>
              </a:rPr>
              <a:t>  ServiceOrder</a:t>
            </a:r>
            <a:r>
              <a:rPr sz="900">
                <a:solidFill>
                  <a:srgbClr val="6E7681"/>
                </a:solidFill>
                <a:latin typeface="Calibri"/>
              </a:rPr>
              <a:t>
      Customer booking — status transitions + rating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Consolas"/>
              </a:rPr>
              <a:t>  WalletTransaction</a:t>
            </a:r>
            <a:r>
              <a:rPr sz="900">
                <a:solidFill>
                  <a:srgbClr val="6E7681"/>
                </a:solidFill>
                <a:latin typeface="Calibri"/>
              </a:rPr>
              <a:t>
      Ledger: amount, currency, type, exchange_rate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Consolas"/>
              </a:rPr>
              <a:t>  ChatRoom</a:t>
            </a:r>
            <a:r>
              <a:rPr sz="900">
                <a:solidFill>
                  <a:srgbClr val="6E7681"/>
                </a:solidFill>
                <a:latin typeface="Calibri"/>
              </a:rPr>
              <a:t>
      Private channel: customer_id + cooker_id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Consolas"/>
              </a:rPr>
              <a:t>  ChatMessage</a:t>
            </a:r>
            <a:r>
              <a:rPr sz="900">
                <a:solidFill>
                  <a:srgbClr val="6E7681"/>
                </a:solidFill>
                <a:latin typeface="Calibri"/>
              </a:rPr>
              <a:t>
      Messages with reply_to_id, is_deleted, edited_at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Consolas"/>
              </a:rPr>
              <a:t>  ActivityLog</a:t>
            </a:r>
            <a:r>
              <a:rPr sz="900">
                <a:solidFill>
                  <a:srgbClr val="6E7681"/>
                </a:solidFill>
                <a:latin typeface="Calibri"/>
              </a:rPr>
              <a:t>
      Admin audit trail — action, description, user_id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051560"/>
            <a:ext cx="3566160" cy="5394960"/>
          </a:xfrm>
          <a:prstGeom prst="roundRect">
            <a:avLst/>
          </a:prstGeom>
          <a:solidFill>
            <a:srgbClr val="161B22"/>
          </a:solidFill>
          <a:ln w="17780">
            <a:solidFill>
              <a:srgbClr val="A37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188720"/>
            <a:ext cx="3337560" cy="5166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A371F7"/>
                </a:solidFill>
                <a:latin typeface="Trebuchet MS"/>
              </a:defRPr>
            </a:pPr>
            <a:r>
              <a:t>Events  (app/Events/)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A371F7"/>
                </a:solidFill>
                <a:latin typeface="Consolas"/>
              </a:rPr>
              <a:t>  MessageSent</a:t>
            </a:r>
            <a:r>
              <a:rPr sz="900">
                <a:solidFill>
                  <a:srgbClr val="6E7681"/>
                </a:solidFill>
                <a:latin typeface="Calibri"/>
              </a:rPr>
              <a:t>  implements ShouldBroadcast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E6EDF3"/>
                </a:solidFill>
                <a:latin typeface="Calibri"/>
              </a:rPr>
              <a:t>  → Pushes full message payload (text, sender, reply_to) to private chat channel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A371F7"/>
                </a:solidFill>
                <a:latin typeface="Consolas"/>
              </a:rPr>
              <a:t>  MessageEdited</a:t>
            </a:r>
            <a:r>
              <a:rPr sz="900">
                <a:solidFill>
                  <a:srgbClr val="6E7681"/>
                </a:solidFill>
                <a:latin typeface="Calibri"/>
              </a:rPr>
              <a:t>  implements ShouldBroadcast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E6EDF3"/>
                </a:solidFill>
                <a:latin typeface="Calibri"/>
              </a:rPr>
              <a:t>  → Pushes updated message text + edited_at timestamp to chat channel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A371F7"/>
                </a:solidFill>
                <a:latin typeface="Consolas"/>
              </a:rPr>
              <a:t>  MessageDeleted</a:t>
            </a:r>
            <a:r>
              <a:rPr sz="900">
                <a:solidFill>
                  <a:srgbClr val="6E7681"/>
                </a:solidFill>
                <a:latin typeface="Calibri"/>
              </a:rPr>
              <a:t>  implements ShouldBroadcast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E6EDF3"/>
                </a:solidFill>
                <a:latin typeface="Calibri"/>
              </a:rPr>
              <a:t>  → Pushes message id to remove bubble from recipient screen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051560"/>
            <a:ext cx="3611880" cy="2606040"/>
          </a:xfrm>
          <a:prstGeom prst="roundRect">
            <a:avLst/>
          </a:prstGeom>
          <a:solidFill>
            <a:srgbClr val="161B22"/>
          </a:solidFill>
          <a:ln w="1778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188720"/>
            <a:ext cx="3383280" cy="2423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58A6FF"/>
                </a:solidFill>
                <a:latin typeface="Trebuchet MS"/>
              </a:defRPr>
            </a:pPr>
            <a:r>
              <a:t>Services  (app/Services/)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>
                <a:solidFill>
                  <a:srgbClr val="E6EDF3"/>
                </a:solidFill>
                <a:latin typeface="Calibri"/>
              </a:rPr>
              <a:t>  CurrencyService.php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>
                <a:solidFill>
                  <a:srgbClr val="6E7681"/>
                </a:solidFill>
                <a:latin typeface="Calibri"/>
              </a:rPr>
              <a:t>  Injected via Laravel DI container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b="1" sz="1000">
                <a:solidFill>
                  <a:srgbClr val="F59E0B"/>
                </a:solidFill>
                <a:latin typeface="Consolas"/>
              </a:rPr>
              <a:t>  Methods:</a:t>
            </a:r>
            <a:r>
              <a:rPr b="0" sz="1000">
                <a:solidFill>
                  <a:srgbClr val="6E7681"/>
                </a:solidFill>
                <a:latin typeface="Calibri"/>
              </a:rPr>
              <a:t> getRates, convert, format, clearCache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3840480"/>
            <a:ext cx="3611880" cy="2606040"/>
          </a:xfrm>
          <a:prstGeom prst="roundRect">
            <a:avLst/>
          </a:prstGeom>
          <a:solidFill>
            <a:srgbClr val="161B22"/>
          </a:solidFill>
          <a:ln w="1778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3977639"/>
            <a:ext cx="3383280" cy="2423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85149"/>
                </a:solidFill>
                <a:latin typeface="Trebuchet MS"/>
              </a:defRPr>
            </a:pPr>
            <a:r>
              <a:t>Notifications  (app/Notifications/)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000">
                <a:solidFill>
                  <a:srgbClr val="E6EDF3"/>
                </a:solidFill>
                <a:latin typeface="Calibri"/>
              </a:rPr>
              <a:t>  NewMessageNotification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000">
                <a:solidFill>
                  <a:srgbClr val="E6EDF3"/>
                </a:solidFill>
                <a:latin typeface="Calibri"/>
              </a:rPr>
              <a:t>  OrderPlacedNotification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000">
                <a:solidFill>
                  <a:srgbClr val="E6EDF3"/>
                </a:solidFill>
                <a:latin typeface="Calibri"/>
              </a:rPr>
              <a:t>  OrderCompletedNotification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b="1" sz="1000">
                <a:solidFill>
                  <a:srgbClr val="F59E0B"/>
                </a:solidFill>
                <a:latin typeface="Consolas"/>
              </a:rPr>
              <a:t>  All via:</a:t>
            </a:r>
            <a:r>
              <a:rPr b="0" sz="1000">
                <a:solidFill>
                  <a:srgbClr val="6E7681"/>
                </a:solidFill>
                <a:latin typeface="Calibri"/>
              </a:rPr>
              <a:t> database + broadcast channels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37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A371F7"/>
                </a:solidFill>
                <a:latin typeface="Trebuchet MS"/>
              </a:defRPr>
            </a:pPr>
            <a:r>
              <a:t>03A  Laravel Reverb — Configuration &amp; Installation</a:t>
            </a:r>
          </a:p>
          <a:p>
            <a:pPr>
              <a:spcBef>
                <a:spcPts val="0"/>
              </a:spcBef>
            </a:pPr>
            <a:r>
              <a:rPr sz="1200">
                <a:solidFill>
                  <a:srgbClr val="6E7681"/>
                </a:solidFill>
                <a:latin typeface="Calibri"/>
              </a:rPr>
              <a:t>Self-hosted WebSocket server (no paid third-party needed)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96112"/>
            <a:ext cx="11064240" cy="15240"/>
          </a:xfrm>
          <a:prstGeom prst="rect">
            <a:avLst/>
          </a:prstGeom>
          <a:solidFill>
            <a:srgbClr val="A37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051560"/>
            <a:ext cx="5394960" cy="5394960"/>
          </a:xfrm>
          <a:prstGeom prst="roundRect">
            <a:avLst/>
          </a:prstGeom>
          <a:solidFill>
            <a:srgbClr val="161B22"/>
          </a:solidFill>
          <a:ln w="17780">
            <a:solidFill>
              <a:srgbClr val="A37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188720"/>
            <a:ext cx="5166360" cy="5166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58A6FF"/>
                </a:solidFill>
                <a:latin typeface="Trebuchet MS"/>
              </a:defRPr>
            </a:pPr>
            <a:r>
              <a:t>.env Values (Yumz Actual Config)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b="1" sz="1100">
                <a:solidFill>
                  <a:srgbClr val="A371F7"/>
                </a:solidFill>
                <a:latin typeface="Consolas"/>
              </a:rPr>
              <a:t>  Package:</a:t>
            </a:r>
            <a:r>
              <a:rPr b="0" sz="1100">
                <a:solidFill>
                  <a:srgbClr val="E6EDF3"/>
                </a:solidFill>
                <a:latin typeface="Calibri"/>
              </a:rPr>
              <a:t> composer require laravel/reverb (^1.0)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b="1" sz="1100">
                <a:solidFill>
                  <a:srgbClr val="A371F7"/>
                </a:solidFill>
                <a:latin typeface="Consolas"/>
              </a:rPr>
              <a:t>  Install command:</a:t>
            </a:r>
            <a:r>
              <a:rPr b="0" sz="1100">
                <a:solidFill>
                  <a:srgbClr val="E6EDF3"/>
                </a:solidFill>
                <a:latin typeface="Calibri"/>
              </a:rPr>
              <a:t> php artisan reverb:install</a:t>
            </a:r>
          </a:p>
          <a:p>
            <a:pPr>
              <a:spcBef>
                <a:spcPts val="600"/>
              </a:spcBef>
            </a:pP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000">
                <a:solidFill>
                  <a:srgbClr val="23C55E"/>
                </a:solidFill>
                <a:latin typeface="Consolas"/>
              </a:rPr>
              <a:t>  BROADCAST_CONNECTION=reverb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000">
                <a:solidFill>
                  <a:srgbClr val="23C55E"/>
                </a:solidFill>
                <a:latin typeface="Consolas"/>
              </a:rPr>
              <a:t>  REVERB_APP_ID=730928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000">
                <a:solidFill>
                  <a:srgbClr val="23C55E"/>
                </a:solidFill>
                <a:latin typeface="Consolas"/>
              </a:rPr>
              <a:t>  REVERB_APP_KEY=mv2ineasq6duiyidz579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000">
                <a:solidFill>
                  <a:srgbClr val="23C55E"/>
                </a:solidFill>
                <a:latin typeface="Consolas"/>
              </a:rPr>
              <a:t>  REVERB_APP_SECRET=lbd3qqk53ul3wxcqqsow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000">
                <a:solidFill>
                  <a:srgbClr val="23C55E"/>
                </a:solidFill>
                <a:latin typeface="Consolas"/>
              </a:rPr>
              <a:t>  REVERB_HOST="localhost"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000">
                <a:solidFill>
                  <a:srgbClr val="23C55E"/>
                </a:solidFill>
                <a:latin typeface="Consolas"/>
              </a:rPr>
              <a:t>  REVERB_PORT=8080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000">
                <a:solidFill>
                  <a:srgbClr val="23C55E"/>
                </a:solidFill>
                <a:latin typeface="Consolas"/>
              </a:rPr>
              <a:t>  REVERB_SCHEME=http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000">
                <a:solidFill>
                  <a:srgbClr val="23C55E"/>
                </a:solidFill>
                <a:latin typeface="Consolas"/>
              </a:rPr>
              <a:t>  VITE_REVERB_APP_KEY="${REVERB_APP_KEY}"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000">
                <a:solidFill>
                  <a:srgbClr val="23C55E"/>
                </a:solidFill>
                <a:latin typeface="Consolas"/>
              </a:rPr>
              <a:t>  VITE_REVERB_HOST="${REVERB_HOST}"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000">
                <a:solidFill>
                  <a:srgbClr val="23C55E"/>
                </a:solidFill>
                <a:latin typeface="Consolas"/>
              </a:rPr>
              <a:t>  VITE_REVERB_PORT="${REVERB_PORT}"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1051560"/>
            <a:ext cx="5669280" cy="2606040"/>
          </a:xfrm>
          <a:prstGeom prst="roundRect">
            <a:avLst/>
          </a:prstGeom>
          <a:solidFill>
            <a:srgbClr val="161B22"/>
          </a:solidFill>
          <a:ln w="1778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188720"/>
            <a:ext cx="5440680" cy="2423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59E0B"/>
                </a:solidFill>
                <a:latin typeface="Trebuchet MS"/>
              </a:defRPr>
            </a:pPr>
            <a:r>
              <a:t>config/reverb.php Key Settings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b="1" sz="1100">
                <a:solidFill>
                  <a:srgbClr val="F59E0B"/>
                </a:solidFill>
                <a:latin typeface="Consolas"/>
              </a:rPr>
              <a:t>  Server host:</a:t>
            </a:r>
            <a:r>
              <a:rPr b="0" sz="1100">
                <a:solidFill>
                  <a:srgbClr val="E6EDF3"/>
                </a:solidFill>
                <a:latin typeface="Calibri"/>
              </a:rPr>
              <a:t> 0.0.0.0 (binds to all interfaces)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b="1" sz="1100">
                <a:solidFill>
                  <a:srgbClr val="F59E0B"/>
                </a:solidFill>
                <a:latin typeface="Consolas"/>
              </a:rPr>
              <a:t>  Server port:</a:t>
            </a:r>
            <a:r>
              <a:rPr b="0" sz="1100">
                <a:solidFill>
                  <a:srgbClr val="E6EDF3"/>
                </a:solidFill>
                <a:latin typeface="Calibri"/>
              </a:rPr>
              <a:t> 8080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b="1" sz="1100">
                <a:solidFill>
                  <a:srgbClr val="F59E0B"/>
                </a:solidFill>
                <a:latin typeface="Consolas"/>
              </a:rPr>
              <a:t>  Max request size:</a:t>
            </a:r>
            <a:r>
              <a:rPr b="0" sz="1100">
                <a:solidFill>
                  <a:srgbClr val="E6EDF3"/>
                </a:solidFill>
                <a:latin typeface="Calibri"/>
              </a:rPr>
              <a:t> 10,000 bytes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b="1" sz="1100">
                <a:solidFill>
                  <a:srgbClr val="F59E0B"/>
                </a:solidFill>
                <a:latin typeface="Consolas"/>
              </a:rPr>
              <a:t>  Ping interval:</a:t>
            </a:r>
            <a:r>
              <a:rPr b="0" sz="1100">
                <a:solidFill>
                  <a:srgbClr val="E6EDF3"/>
                </a:solidFill>
                <a:latin typeface="Calibri"/>
              </a:rPr>
              <a:t> 60s / Activity timeout: 30s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b="1" sz="1100">
                <a:solidFill>
                  <a:srgbClr val="F59E0B"/>
                </a:solidFill>
                <a:latin typeface="Consolas"/>
              </a:rPr>
              <a:t>  Redis scaling:</a:t>
            </a:r>
            <a:r>
              <a:rPr b="0" sz="1100">
                <a:solidFill>
                  <a:srgbClr val="E6EDF3"/>
                </a:solidFill>
                <a:latin typeface="Calibri"/>
              </a:rPr>
              <a:t> disabled (single node setup)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b="1" sz="1100">
                <a:solidFill>
                  <a:srgbClr val="F59E0B"/>
                </a:solidFill>
                <a:latin typeface="Consolas"/>
              </a:rPr>
              <a:t>  Allowed origins:</a:t>
            </a:r>
            <a:r>
              <a:rPr b="0" sz="1100">
                <a:solidFill>
                  <a:srgbClr val="E6EDF3"/>
                </a:solidFill>
                <a:latin typeface="Calibri"/>
              </a:rPr>
              <a:t> ['*'] (open for local dev)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3840480"/>
            <a:ext cx="5669280" cy="2606040"/>
          </a:xfrm>
          <a:prstGeom prst="roundRect">
            <a:avLst/>
          </a:prstGeom>
          <a:solidFill>
            <a:srgbClr val="161B22"/>
          </a:solidFill>
          <a:ln w="1778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3977639"/>
            <a:ext cx="5440680" cy="2423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58A6FF"/>
                </a:solidFill>
                <a:latin typeface="Trebuchet MS"/>
              </a:defRPr>
            </a:pPr>
            <a:r>
              <a:t>Frontend — bootstrap.js (Echo client)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000">
                <a:solidFill>
                  <a:srgbClr val="58A6FF"/>
                </a:solidFill>
                <a:latin typeface="Consolas"/>
              </a:rPr>
              <a:t>  broadcaster: 'reverb'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000">
                <a:solidFill>
                  <a:srgbClr val="58A6FF"/>
                </a:solidFill>
                <a:latin typeface="Consolas"/>
              </a:rPr>
              <a:t>  key: VITE_REVERB_APP_KEY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000">
                <a:solidFill>
                  <a:srgbClr val="58A6FF"/>
                </a:solidFill>
                <a:latin typeface="Consolas"/>
              </a:rPr>
              <a:t>  wsHost: VITE_REVERB_HOST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000">
                <a:solidFill>
                  <a:srgbClr val="58A6FF"/>
                </a:solidFill>
                <a:latin typeface="Consolas"/>
              </a:rPr>
              <a:t>  wsPort: 8080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000">
                <a:solidFill>
                  <a:srgbClr val="58A6FF"/>
                </a:solidFill>
                <a:latin typeface="Consolas"/>
              </a:rPr>
              <a:t>  forceTLS: false (http scheme locally)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000">
                <a:solidFill>
                  <a:srgbClr val="58A6FF"/>
                </a:solidFill>
                <a:latin typeface="Consolas"/>
              </a:rPr>
              <a:t>  enabledTransports: ['ws', 'wss']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000">
                <a:solidFill>
                  <a:srgbClr val="58A6FF"/>
                </a:solidFill>
                <a:latin typeface="Consolas"/>
              </a:rPr>
              <a:t>  disableStats: true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37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A371F7"/>
                </a:solidFill>
                <a:latin typeface="Trebuchet MS"/>
              </a:defRPr>
            </a:pPr>
            <a:r>
              <a:t>03B  Laravel Reverb — Events, Channels &amp; Data Flow</a:t>
            </a:r>
          </a:p>
          <a:p>
            <a:pPr>
              <a:spcBef>
                <a:spcPts val="0"/>
              </a:spcBef>
            </a:pPr>
            <a:r>
              <a:rPr sz="1200">
                <a:solidFill>
                  <a:srgbClr val="6E7681"/>
                </a:solidFill>
                <a:latin typeface="Calibri"/>
              </a:rPr>
              <a:t>How real-time messages and notifications travel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96112"/>
            <a:ext cx="11064240" cy="15240"/>
          </a:xfrm>
          <a:prstGeom prst="rect">
            <a:avLst/>
          </a:prstGeom>
          <a:solidFill>
            <a:srgbClr val="A37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051560"/>
            <a:ext cx="7315200" cy="3246120"/>
          </a:xfrm>
          <a:prstGeom prst="roundRect">
            <a:avLst/>
          </a:prstGeom>
          <a:solidFill>
            <a:srgbClr val="161B22"/>
          </a:solidFill>
          <a:ln w="17780">
            <a:solidFill>
              <a:srgbClr val="A37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188720"/>
            <a:ext cx="7086600" cy="3063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A371F7"/>
                </a:solidFill>
                <a:latin typeface="Trebuchet MS"/>
              </a:defRPr>
            </a:pPr>
            <a:r>
              <a:t>Broadcast Events (app/Events/)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A371F7"/>
                </a:solidFill>
                <a:latin typeface="Consolas"/>
              </a:rPr>
              <a:t>  MessageSent</a:t>
            </a:r>
            <a:r>
              <a:rPr sz="900">
                <a:solidFill>
                  <a:srgbClr val="58A6FF"/>
                </a:solidFill>
                <a:latin typeface="Consolas"/>
              </a:rPr>
              <a:t>  →  channel: chat.{roomId}  |  as: 'message.sent'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6E7681"/>
                </a:solidFill>
                <a:latin typeface="Calibri"/>
              </a:rPr>
              <a:t>      Payload: id, sender_name, sender_initials, sender_photo, message, attachment_url, created_at, reply_to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A371F7"/>
                </a:solidFill>
                <a:latin typeface="Consolas"/>
              </a:rPr>
              <a:t>  MessageEdited</a:t>
            </a:r>
            <a:r>
              <a:rPr sz="900">
                <a:solidFill>
                  <a:srgbClr val="58A6FF"/>
                </a:solidFill>
                <a:latin typeface="Consolas"/>
              </a:rPr>
              <a:t>  →  channel: chat.{roomId}  |  as: 'message.edited'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6E7681"/>
                </a:solidFill>
                <a:latin typeface="Calibri"/>
              </a:rPr>
              <a:t>      Payload: id, message (new text), edited_at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A371F7"/>
                </a:solidFill>
                <a:latin typeface="Consolas"/>
              </a:rPr>
              <a:t>  MessageDeleted</a:t>
            </a:r>
            <a:r>
              <a:rPr sz="900">
                <a:solidFill>
                  <a:srgbClr val="58A6FF"/>
                </a:solidFill>
                <a:latin typeface="Consolas"/>
              </a:rPr>
              <a:t>  →  channel: chat.{roomId}  |  as: 'message.deleted'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6E7681"/>
                </a:solidFill>
                <a:latin typeface="Calibri"/>
              </a:rPr>
              <a:t>      Payload: id, chat_room_id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0" y="1051560"/>
            <a:ext cx="3749039" cy="3246120"/>
          </a:xfrm>
          <a:prstGeom prst="roundRect">
            <a:avLst/>
          </a:prstGeom>
          <a:solidFill>
            <a:srgbClr val="161B22"/>
          </a:solidFill>
          <a:ln w="1778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188720"/>
            <a:ext cx="3520440" cy="3063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6E7681"/>
                </a:solidFill>
                <a:latin typeface="Trebuchet MS"/>
              </a:defRPr>
            </a:pPr>
            <a:r>
              <a:t>routes/channels.php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b="1" sz="1000">
                <a:solidFill>
                  <a:srgbClr val="F59E0B"/>
                </a:solidFill>
                <a:latin typeface="Consolas"/>
              </a:rPr>
              <a:t>  App.Models.User.{id}:</a:t>
            </a:r>
            <a:r>
              <a:rPr b="0" sz="1000">
                <a:solidFill>
                  <a:srgbClr val="E6EDF3"/>
                </a:solidFill>
                <a:latin typeface="Calibri"/>
              </a:rPr>
              <a:t> Only the user themselves (notification bell)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b="1" sz="1000">
                <a:solidFill>
                  <a:srgbClr val="F59E0B"/>
                </a:solidFill>
                <a:latin typeface="Consolas"/>
              </a:rPr>
              <a:t>  chat.{roomId}:</a:t>
            </a:r>
            <a:r>
              <a:rPr b="0" sz="1000">
                <a:solidFill>
                  <a:srgbClr val="E6EDF3"/>
                </a:solidFill>
                <a:latin typeface="Calibri"/>
              </a:rPr>
              <a:t> Only room participants — verified via ChatRoom::hasParticipant()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b="1" sz="1000">
                <a:solidFill>
                  <a:srgbClr val="F59E0B"/>
                </a:solidFill>
                <a:latin typeface="Consolas"/>
              </a:rPr>
              <a:t>  Security:</a:t>
            </a:r>
            <a:r>
              <a:rPr b="0" sz="1000">
                <a:solidFill>
                  <a:srgbClr val="6E7681"/>
                </a:solidFill>
                <a:latin typeface="Calibri"/>
              </a:rPr>
              <a:t> Reverb calls these callbacks before allowing subscription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480560"/>
            <a:ext cx="11292840" cy="2011680"/>
          </a:xfrm>
          <a:prstGeom prst="roundRect">
            <a:avLst/>
          </a:prstGeom>
          <a:solidFill>
            <a:srgbClr val="161B22"/>
          </a:solidFill>
          <a:ln w="1778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617720"/>
            <a:ext cx="110642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58A6FF"/>
                </a:solidFill>
                <a:latin typeface="Trebuchet MS"/>
              </a:defRPr>
            </a:pPr>
            <a:r>
              <a:t>Full Real-Time Data Flow</a:t>
            </a:r>
          </a:p>
          <a:p>
            <a:r>
              <a:rPr sz="1000">
                <a:solidFill>
                  <a:srgbClr val="58A6FF"/>
                </a:solidFill>
                <a:latin typeface="Consolas"/>
              </a:rPr>
              <a:t>  [Browser sends message]  →  [ChatController::sendMessage()]  →  [Save to DB]  →  [broadcast(new MessageSent)-&gt;toOthers()]
  →  [Reverb Server :8080]  →  [Private Channel: chat.{roomId}]  →  [Recipient's Echo client]  →  [Message bubble appears instantly]
  →  Also: notify(NewMessageNotification)  →  [DB + broadcast]  →  [App.Models.User.{id}]  →  [Bell badge updates live]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3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23C55E"/>
                </a:solidFill>
                <a:latin typeface="Trebuchet MS"/>
              </a:defRPr>
            </a:pPr>
            <a:r>
              <a:t>04A  Docker Setup — Services &amp; Port Mapping</a:t>
            </a:r>
          </a:p>
          <a:p>
            <a:pPr>
              <a:spcBef>
                <a:spcPts val="0"/>
              </a:spcBef>
            </a:pPr>
            <a:r>
              <a:rPr sz="1200">
                <a:solidFill>
                  <a:srgbClr val="6E7681"/>
                </a:solidFill>
                <a:latin typeface="Calibri"/>
              </a:rPr>
              <a:t>compose.yaml — three-container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96112"/>
            <a:ext cx="11064240" cy="15240"/>
          </a:xfrm>
          <a:prstGeom prst="rect">
            <a:avLst/>
          </a:prstGeom>
          <a:solidFill>
            <a:srgbClr val="23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92840" cy="1572768"/>
          </a:xfrm>
          <a:prstGeom prst="roundRect">
            <a:avLst/>
          </a:prstGeom>
          <a:solidFill>
            <a:srgbClr val="161B22"/>
          </a:solidFill>
          <a:ln w="17780">
            <a:solidFill>
              <a:srgbClr val="388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1261872" cy="256032"/>
          </a:xfrm>
          <a:prstGeom prst="roundRect">
            <a:avLst/>
          </a:prstGeom>
          <a:solidFill>
            <a:srgbClr val="0E223F"/>
          </a:solidFill>
          <a:ln w="12700">
            <a:solidFill>
              <a:srgbClr val="388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tIns="0" rIns="54864" bIns="0"/>
          <a:lstStyle/>
          <a:p>
            <a:pPr algn="ctr">
              <a:defRPr sz="900" b="1">
                <a:solidFill>
                  <a:srgbClr val="388BFD"/>
                </a:solidFill>
                <a:latin typeface="Consolas"/>
              </a:defRPr>
            </a:pPr>
            <a:r>
              <a:t>laravel.test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207008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6E7681"/>
                </a:solidFill>
                <a:latin typeface="Consolas"/>
              </a:rPr>
              <a:t>sail-8.5/app (PHP 8.5)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1207008"/>
            <a:ext cx="5852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388BFD"/>
                </a:solidFill>
                <a:latin typeface="Consolas"/>
              </a:rPr>
              <a:t>80:80 (web)  ·  5173:5173 (Vite)  ·  8080:8080 (Reverb)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00200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spcAft>
                <a:spcPts val="100"/>
              </a:spcAft>
            </a:pPr>
            <a:r>
              <a:rPr sz="1000">
                <a:solidFill>
                  <a:srgbClr val="E6EDF3"/>
                </a:solidFill>
                <a:latin typeface="Calibri"/>
              </a:rPr>
              <a:t>  • Runs Laravel application server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E6EDF3"/>
                </a:solidFill>
                <a:latin typeface="Calibri"/>
              </a:rPr>
              <a:t>  • Mounts entire codebase as volume (.:/var/www/html)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E6EDF3"/>
                </a:solidFill>
                <a:latin typeface="Calibri"/>
              </a:rPr>
              <a:t>  • Depends on: pgsql + redis (starts after both are healthy)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E6EDF3"/>
                </a:solidFill>
                <a:latin typeface="Calibri"/>
              </a:rPr>
              <a:t>  • Env: WWWUSER, LARAVEL_SAIL, XDEBUG_MODE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788920"/>
            <a:ext cx="11292840" cy="1572768"/>
          </a:xfrm>
          <a:prstGeom prst="roundRect">
            <a:avLst/>
          </a:prstGeom>
          <a:solidFill>
            <a:srgbClr val="161B22"/>
          </a:solidFill>
          <a:ln w="17780">
            <a:solidFill>
              <a:srgbClr val="23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2926080"/>
            <a:ext cx="685800" cy="256032"/>
          </a:xfrm>
          <a:prstGeom prst="roundRect">
            <a:avLst/>
          </a:prstGeom>
          <a:solidFill>
            <a:srgbClr val="083117"/>
          </a:solidFill>
          <a:ln w="12700">
            <a:solidFill>
              <a:srgbClr val="23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tIns="0" rIns="54864" bIns="0"/>
          <a:lstStyle/>
          <a:p>
            <a:pPr algn="ctr">
              <a:defRPr sz="900" b="1">
                <a:solidFill>
                  <a:srgbClr val="23C55E"/>
                </a:solidFill>
                <a:latin typeface="Consolas"/>
              </a:defRPr>
            </a:pPr>
            <a:r>
              <a:t>pgsql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2898648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6E7681"/>
                </a:solidFill>
                <a:latin typeface="Consolas"/>
              </a:rPr>
              <a:t>postgres:16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898648"/>
            <a:ext cx="5852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23C55E"/>
                </a:solidFill>
                <a:latin typeface="Consolas"/>
              </a:rPr>
              <a:t>54321:5432 (PostgreSQL)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291840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spcAft>
                <a:spcPts val="100"/>
              </a:spcAft>
            </a:pPr>
            <a:r>
              <a:rPr sz="1000">
                <a:solidFill>
                  <a:srgbClr val="E6EDF3"/>
                </a:solidFill>
                <a:latin typeface="Calibri"/>
              </a:rPr>
              <a:t>  • Container name = DB_DATABASE (yumz)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E6EDF3"/>
                </a:solidFill>
                <a:latin typeface="Calibri"/>
              </a:rPr>
              <a:t>  • POSTGRES_DB, POSTGRES_USER, POSTGRES_PASSWORD from .env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E6EDF3"/>
                </a:solidFill>
                <a:latin typeface="Calibri"/>
              </a:rPr>
              <a:t>  • Data persisted in: sail-pgsql Docker volume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E6EDF3"/>
                </a:solidFill>
                <a:latin typeface="Calibri"/>
              </a:rPr>
              <a:t>  • Health check: pg_isready -q -d yumz -U sail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480560"/>
            <a:ext cx="11292840" cy="1572768"/>
          </a:xfrm>
          <a:prstGeom prst="roundRect">
            <a:avLst/>
          </a:prstGeom>
          <a:solidFill>
            <a:srgbClr val="161B22"/>
          </a:solidFill>
          <a:ln w="1778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" y="4617720"/>
            <a:ext cx="685800" cy="256032"/>
          </a:xfrm>
          <a:prstGeom prst="roundRect">
            <a:avLst/>
          </a:prstGeom>
          <a:solidFill>
            <a:srgbClr val="3E1412"/>
          </a:solidFill>
          <a:ln w="127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tIns="0" rIns="54864" bIns="0"/>
          <a:lstStyle/>
          <a:p>
            <a:pPr algn="ctr">
              <a:defRPr sz="900" b="1">
                <a:solidFill>
                  <a:srgbClr val="F85149"/>
                </a:solidFill>
                <a:latin typeface="Consolas"/>
              </a:defRPr>
            </a:pPr>
            <a:r>
              <a:t>redis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4590288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6E7681"/>
                </a:solidFill>
                <a:latin typeface="Consolas"/>
              </a:rPr>
              <a:t>redis:alpine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4590288"/>
            <a:ext cx="5852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F85149"/>
                </a:solidFill>
                <a:latin typeface="Consolas"/>
              </a:rPr>
              <a:t>6381:6379 (Redis)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983480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spcAft>
                <a:spcPts val="100"/>
              </a:spcAft>
            </a:pPr>
            <a:r>
              <a:rPr sz="1000">
                <a:solidFill>
                  <a:srgbClr val="E6EDF3"/>
                </a:solidFill>
                <a:latin typeface="Calibri"/>
              </a:rPr>
              <a:t>  • Container name: yumz_redis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E6EDF3"/>
                </a:solidFill>
                <a:latin typeface="Calibri"/>
              </a:rPr>
              <a:t>  • Used for: session cache, currency rates TTL cache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E6EDF3"/>
                </a:solidFill>
                <a:latin typeface="Calibri"/>
              </a:rPr>
              <a:t>  • Data persisted in: sail-redis Docker volume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E6EDF3"/>
                </a:solidFill>
                <a:latin typeface="Calibri"/>
              </a:rPr>
              <a:t>  • Health check: redis-cli ping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3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23C55E"/>
                </a:solidFill>
                <a:latin typeface="Trebuchet MS"/>
              </a:defRPr>
            </a:pPr>
            <a:r>
              <a:t>04B  Docker Setup — Dockerfile &amp; Startup Script</a:t>
            </a:r>
          </a:p>
          <a:p>
            <a:pPr>
              <a:spcBef>
                <a:spcPts val="0"/>
              </a:spcBef>
            </a:pPr>
            <a:r>
              <a:rPr sz="1200">
                <a:solidFill>
                  <a:srgbClr val="6E7681"/>
                </a:solidFill>
                <a:latin typeface="Calibri"/>
              </a:rPr>
              <a:t>docker/start.sh and Dockerfile breakdown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96112"/>
            <a:ext cx="11064240" cy="15240"/>
          </a:xfrm>
          <a:prstGeom prst="rect">
            <a:avLst/>
          </a:prstGeom>
          <a:solidFill>
            <a:srgbClr val="23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051560"/>
            <a:ext cx="5394960" cy="5394960"/>
          </a:xfrm>
          <a:prstGeom prst="roundRect">
            <a:avLst/>
          </a:prstGeom>
          <a:solidFill>
            <a:srgbClr val="161B22"/>
          </a:solidFill>
          <a:ln w="17780">
            <a:solidFill>
              <a:srgbClr val="23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188720"/>
            <a:ext cx="5166360" cy="5166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3C55E"/>
                </a:solidFill>
                <a:latin typeface="Trebuchet MS"/>
              </a:defRPr>
            </a:pPr>
            <a:r>
              <a:t>Dockerfile Steps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23C55E"/>
                </a:solidFill>
                <a:latin typeface="Trebuchet MS"/>
              </a:rPr>
              <a:t>  Base:</a:t>
            </a:r>
            <a:r>
              <a:rPr sz="1000">
                <a:solidFill>
                  <a:srgbClr val="58A6FF"/>
                </a:solidFill>
                <a:latin typeface="Consolas"/>
              </a:rPr>
              <a:t> php:8.3-cli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23C55E"/>
                </a:solidFill>
                <a:latin typeface="Trebuchet MS"/>
              </a:rPr>
              <a:t>  System deps:</a:t>
            </a:r>
            <a:r>
              <a:rPr sz="1000">
                <a:solidFill>
                  <a:srgbClr val="58A6FF"/>
                </a:solidFill>
                <a:latin typeface="Consolas"/>
              </a:rPr>
              <a:t> git curl zip unzip libpq-dev libzip-dev libpng-dev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23C55E"/>
                </a:solidFill>
                <a:latin typeface="Trebuchet MS"/>
              </a:rPr>
              <a:t>  PHP extensions:</a:t>
            </a:r>
            <a:r>
              <a:rPr sz="1000">
                <a:solidFill>
                  <a:srgbClr val="58A6FF"/>
                </a:solidFill>
                <a:latin typeface="Consolas"/>
              </a:rPr>
              <a:t> pdo  pdo_pgsql  zip  mbstring  gd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23C55E"/>
                </a:solidFill>
                <a:latin typeface="Trebuchet MS"/>
              </a:rPr>
              <a:t>  Composer:</a:t>
            </a:r>
            <a:r>
              <a:rPr sz="1000">
                <a:solidFill>
                  <a:srgbClr val="58A6FF"/>
                </a:solidFill>
                <a:latin typeface="Consolas"/>
              </a:rPr>
              <a:t> Copied from composer:2 official image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23C55E"/>
                </a:solidFill>
                <a:latin typeface="Trebuchet MS"/>
              </a:rPr>
              <a:t>  Node.js:</a:t>
            </a:r>
            <a:r>
              <a:rPr sz="1000">
                <a:solidFill>
                  <a:srgbClr val="58A6FF"/>
                </a:solidFill>
                <a:latin typeface="Consolas"/>
              </a:rPr>
              <a:t> v20.x via NodeSource installer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23C55E"/>
                </a:solidFill>
                <a:latin typeface="Trebuchet MS"/>
              </a:rPr>
              <a:t>  Workdir:</a:t>
            </a:r>
            <a:r>
              <a:rPr sz="1000">
                <a:solidFill>
                  <a:srgbClr val="58A6FF"/>
                </a:solidFill>
                <a:latin typeface="Consolas"/>
              </a:rPr>
              <a:t> /var/www/html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23C55E"/>
                </a:solidFill>
                <a:latin typeface="Trebuchet MS"/>
              </a:rPr>
              <a:t>  Dependencies:</a:t>
            </a:r>
            <a:r>
              <a:rPr sz="1000">
                <a:solidFill>
                  <a:srgbClr val="58A6FF"/>
                </a:solidFill>
                <a:latin typeface="Consolas"/>
              </a:rPr>
              <a:t> composer install --optimize-autoloader --no-dev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23C55E"/>
                </a:solidFill>
                <a:latin typeface="Trebuchet MS"/>
              </a:rPr>
              <a:t>  Assets:</a:t>
            </a:r>
            <a:r>
              <a:rPr sz="1000">
                <a:solidFill>
                  <a:srgbClr val="58A6FF"/>
                </a:solidFill>
                <a:latin typeface="Consolas"/>
              </a:rPr>
              <a:t> npm install &amp;&amp; npm run build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23C55E"/>
                </a:solidFill>
                <a:latin typeface="Trebuchet MS"/>
              </a:rPr>
              <a:t>  Permissions:</a:t>
            </a:r>
            <a:r>
              <a:rPr sz="1000">
                <a:solidFill>
                  <a:srgbClr val="58A6FF"/>
                </a:solidFill>
                <a:latin typeface="Consolas"/>
              </a:rPr>
              <a:t> chmod -R 775 storage bootstrap/cache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23C55E"/>
                </a:solidFill>
                <a:latin typeface="Trebuchet MS"/>
              </a:rPr>
              <a:t>  Start script:</a:t>
            </a:r>
            <a:r>
              <a:rPr sz="1000">
                <a:solidFill>
                  <a:srgbClr val="58A6FF"/>
                </a:solidFill>
                <a:latin typeface="Consolas"/>
              </a:rPr>
              <a:t> COPY docker/start.sh → /usr/local/bin/start.sh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23C55E"/>
                </a:solidFill>
                <a:latin typeface="Trebuchet MS"/>
              </a:rPr>
              <a:t>  Expose:</a:t>
            </a:r>
            <a:r>
              <a:rPr sz="1000">
                <a:solidFill>
                  <a:srgbClr val="58A6FF"/>
                </a:solidFill>
                <a:latin typeface="Consolas"/>
              </a:rPr>
              <a:t> Port 10000 (production) / 8080 (Reverb)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23C55E"/>
                </a:solidFill>
                <a:latin typeface="Trebuchet MS"/>
              </a:rPr>
              <a:t>  CMD:</a:t>
            </a:r>
            <a:r>
              <a:rPr sz="1000">
                <a:solidFill>
                  <a:srgbClr val="58A6FF"/>
                </a:solidFill>
                <a:latin typeface="Consolas"/>
              </a:rPr>
              <a:t> /usr/local/bin/start.sh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1051560"/>
            <a:ext cx="5669280" cy="5394960"/>
          </a:xfrm>
          <a:prstGeom prst="roundRect">
            <a:avLst/>
          </a:prstGeom>
          <a:solidFill>
            <a:srgbClr val="161B22"/>
          </a:solidFill>
          <a:ln w="1778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188720"/>
            <a:ext cx="5440680" cy="5166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59E0B"/>
                </a:solidFill>
                <a:latin typeface="Trebuchet MS"/>
              </a:defRPr>
            </a:pPr>
            <a:r>
              <a:t>docker/start.sh — Container Startup Script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59E0B"/>
                </a:solidFill>
                <a:latin typeface="Trebuchet MS"/>
              </a:rPr>
              <a:t>  Step 1:</a:t>
            </a:r>
            <a:r>
              <a:rPr sz="1000">
                <a:solidFill>
                  <a:srgbClr val="E6EDF3"/>
                </a:solidFill>
                <a:latin typeface="Calibri"/>
              </a:rPr>
              <a:t>
      php artisan config:cache — bakes all .env into cached config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59E0B"/>
                </a:solidFill>
                <a:latin typeface="Trebuchet MS"/>
              </a:rPr>
              <a:t>  Step 2:</a:t>
            </a:r>
            <a:r>
              <a:rPr sz="1000">
                <a:solidFill>
                  <a:srgbClr val="E6EDF3"/>
                </a:solidFill>
                <a:latin typeface="Calibri"/>
              </a:rPr>
              <a:t>
      php artisan route:cache — compiles route definitions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59E0B"/>
                </a:solidFill>
                <a:latin typeface="Trebuchet MS"/>
              </a:rPr>
              <a:t>  Step 3:</a:t>
            </a:r>
            <a:r>
              <a:rPr sz="1000">
                <a:solidFill>
                  <a:srgbClr val="E6EDF3"/>
                </a:solidFill>
                <a:latin typeface="Calibri"/>
              </a:rPr>
              <a:t>
      php artisan view:cache — pre-compiles all Blade templates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59E0B"/>
                </a:solidFill>
                <a:latin typeface="Trebuchet MS"/>
              </a:rPr>
              <a:t>  Step 4:</a:t>
            </a:r>
            <a:r>
              <a:rPr sz="1000">
                <a:solidFill>
                  <a:srgbClr val="E6EDF3"/>
                </a:solidFill>
                <a:latin typeface="Calibri"/>
              </a:rPr>
              <a:t>
      php artisan migrate --force — runs any pending migrations on boot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59E0B"/>
                </a:solidFill>
                <a:latin typeface="Trebuchet MS"/>
              </a:rPr>
              <a:t>  Step 5:</a:t>
            </a:r>
            <a:r>
              <a:rPr sz="1000">
                <a:solidFill>
                  <a:srgbClr val="E6EDF3"/>
                </a:solidFill>
                <a:latin typeface="Calibri"/>
              </a:rPr>
              <a:t>
      php artisan storage:link || true — links storage (ignores if exists)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59E0B"/>
                </a:solidFill>
                <a:latin typeface="Trebuchet MS"/>
              </a:rPr>
              <a:t>  Step 6:</a:t>
            </a:r>
            <a:r>
              <a:rPr sz="1000">
                <a:solidFill>
                  <a:srgbClr val="E6EDF3"/>
                </a:solidFill>
                <a:latin typeface="Calibri"/>
              </a:rPr>
              <a:t>
      php artisan serve --host=0.0.0.0 --port=${PORT:-10000}</a:t>
            </a:r>
          </a:p>
          <a:p>
            <a:pPr>
              <a:spcBef>
                <a:spcPts val="600"/>
              </a:spcBef>
            </a:pPr>
          </a:p>
          <a:p>
            <a:r>
              <a:rPr sz="1100" b="1">
                <a:solidFill>
                  <a:srgbClr val="F85149"/>
                </a:solidFill>
                <a:latin typeface="Calibri"/>
              </a:rPr>
              <a:t>  ⚡ Note: Reverb must be started separately:</a:t>
            </a:r>
          </a:p>
          <a:p>
            <a:r>
              <a:rPr sz="1000">
                <a:solidFill>
                  <a:srgbClr val="58A6FF"/>
                </a:solidFill>
                <a:latin typeface="Consolas"/>
              </a:rPr>
              <a:t>  php artisan reverb:start --host=0.0.0.0 --port=8080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F85149"/>
                </a:solidFill>
                <a:latin typeface="Trebuchet MS"/>
              </a:defRPr>
            </a:pPr>
            <a:r>
              <a:t>05A  Database Setup — PostgreSQL &amp; Migrations</a:t>
            </a:r>
          </a:p>
          <a:p>
            <a:pPr>
              <a:spcBef>
                <a:spcPts val="0"/>
              </a:spcBef>
            </a:pPr>
            <a:r>
              <a:rPr sz="1200">
                <a:solidFill>
                  <a:srgbClr val="6E7681"/>
                </a:solidFill>
                <a:latin typeface="Calibri"/>
              </a:rPr>
              <a:t>25 migration files — 9 core operational tables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96112"/>
            <a:ext cx="11064240" cy="1524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051560"/>
            <a:ext cx="3749039" cy="5394960"/>
          </a:xfrm>
          <a:prstGeom prst="roundRect">
            <a:avLst/>
          </a:prstGeom>
          <a:solidFill>
            <a:srgbClr val="161B22"/>
          </a:solidFill>
          <a:ln w="1778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188720"/>
            <a:ext cx="3520440" cy="5166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59E0B"/>
                </a:solidFill>
                <a:latin typeface="Trebuchet MS"/>
              </a:defRPr>
            </a:pPr>
            <a:r>
              <a:t>Migration Stats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b="1" sz="1200">
                <a:solidFill>
                  <a:srgbClr val="F85149"/>
                </a:solidFill>
                <a:latin typeface="Consolas"/>
              </a:rPr>
              <a:t>  Engine:</a:t>
            </a:r>
            <a:r>
              <a:rPr b="0" sz="1200">
                <a:solidFill>
                  <a:srgbClr val="E6EDF3"/>
                </a:solidFill>
                <a:latin typeface="Calibri"/>
              </a:rPr>
              <a:t> PostgreSQL 16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b="1" sz="1200">
                <a:solidFill>
                  <a:srgbClr val="F85149"/>
                </a:solidFill>
                <a:latin typeface="Consolas"/>
              </a:rPr>
              <a:t>  Host (Docker):</a:t>
            </a:r>
            <a:r>
              <a:rPr b="0" sz="1200">
                <a:solidFill>
                  <a:srgbClr val="E6EDF3"/>
                </a:solidFill>
                <a:latin typeface="Calibri"/>
              </a:rPr>
              <a:t> pgsql container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b="1" sz="1200">
                <a:solidFill>
                  <a:srgbClr val="F85149"/>
                </a:solidFill>
                <a:latin typeface="Consolas"/>
              </a:rPr>
              <a:t>  Port:</a:t>
            </a:r>
            <a:r>
              <a:rPr b="0" sz="1200">
                <a:solidFill>
                  <a:srgbClr val="E6EDF3"/>
                </a:solidFill>
                <a:latin typeface="Calibri"/>
              </a:rPr>
              <a:t> 54321 → 5432 (forwarded)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b="1" sz="1200">
                <a:solidFill>
                  <a:srgbClr val="F85149"/>
                </a:solidFill>
                <a:latin typeface="Consolas"/>
              </a:rPr>
              <a:t>  DB Name:</a:t>
            </a:r>
            <a:r>
              <a:rPr b="0" sz="1200">
                <a:solidFill>
                  <a:srgbClr val="E6EDF3"/>
                </a:solidFill>
                <a:latin typeface="Calibri"/>
              </a:rPr>
              <a:t> yumz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b="1" sz="1200">
                <a:solidFill>
                  <a:srgbClr val="F85149"/>
                </a:solidFill>
                <a:latin typeface="Consolas"/>
              </a:rPr>
              <a:t>  Username:</a:t>
            </a:r>
            <a:r>
              <a:rPr b="0" sz="1200">
                <a:solidFill>
                  <a:srgbClr val="E6EDF3"/>
                </a:solidFill>
                <a:latin typeface="Calibri"/>
              </a:rPr>
              <a:t> sail / Password: password</a:t>
            </a:r>
          </a:p>
          <a:p>
            <a:pPr>
              <a:spcBef>
                <a:spcPts val="1000"/>
              </a:spcBef>
            </a:p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b="1" sz="1200">
                <a:solidFill>
                  <a:srgbClr val="F59E0B"/>
                </a:solidFill>
                <a:latin typeface="Consolas"/>
              </a:rPr>
              <a:t>  Total migration files:</a:t>
            </a:r>
            <a:r>
              <a:rPr b="0" sz="1200">
                <a:solidFill>
                  <a:srgbClr val="E6EDF3"/>
                </a:solidFill>
                <a:latin typeface="Calibri"/>
              </a:rPr>
              <a:t> 25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b="1" sz="1200">
                <a:solidFill>
                  <a:srgbClr val="F59E0B"/>
                </a:solidFill>
                <a:latin typeface="Consolas"/>
              </a:rPr>
              <a:t>  Core tables:</a:t>
            </a:r>
            <a:r>
              <a:rPr b="0" sz="1200">
                <a:solidFill>
                  <a:srgbClr val="E6EDF3"/>
                </a:solidFill>
                <a:latin typeface="Calibri"/>
              </a:rPr>
              <a:t> 9 operational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b="1" sz="1200">
                <a:solidFill>
                  <a:srgbClr val="F59E0B"/>
                </a:solidFill>
                <a:latin typeface="Consolas"/>
              </a:rPr>
              <a:t>  Support tables:</a:t>
            </a:r>
            <a:r>
              <a:rPr b="0" sz="1200">
                <a:solidFill>
                  <a:srgbClr val="E6EDF3"/>
                </a:solidFill>
                <a:latin typeface="Calibri"/>
              </a:rPr>
              <a:t> cache, jobs, notifications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b="1" sz="1100">
                <a:solidFill>
                  <a:srgbClr val="F59E0B"/>
                </a:solidFill>
                <a:latin typeface="Consolas"/>
              </a:rPr>
              <a:t>  Run command:</a:t>
            </a:r>
            <a:r>
              <a:rPr b="0" sz="1100">
                <a:solidFill>
                  <a:srgbClr val="6E7681"/>
                </a:solidFill>
                <a:latin typeface="Calibri"/>
              </a:rPr>
              <a:t> php artisan migrate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b="1" sz="1100">
                <a:solidFill>
                  <a:srgbClr val="F59E0B"/>
                </a:solidFill>
                <a:latin typeface="Consolas"/>
              </a:rPr>
              <a:t>  Seed command:</a:t>
            </a:r>
            <a:r>
              <a:rPr b="0" sz="1100">
                <a:solidFill>
                  <a:srgbClr val="6E7681"/>
                </a:solidFill>
                <a:latin typeface="Calibri"/>
              </a:rPr>
              <a:t> php artisan migrate --seed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051560"/>
            <a:ext cx="7315200" cy="5394960"/>
          </a:xfrm>
          <a:prstGeom prst="roundRect">
            <a:avLst/>
          </a:prstGeom>
          <a:solidFill>
            <a:srgbClr val="161B22"/>
          </a:solidFill>
          <a:ln w="1778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188720"/>
            <a:ext cx="7086600" cy="5166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E6EDF3"/>
                </a:solidFill>
                <a:latin typeface="Trebuchet MS"/>
              </a:defRPr>
            </a:pPr>
            <a:r>
              <a:t>Migration Timeline (25 files)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E6EDF3"/>
                </a:solidFill>
                <a:latin typeface="Consolas"/>
              </a:rPr>
              <a:t>  Base</a:t>
            </a:r>
            <a:r>
              <a:rPr sz="1000">
                <a:solidFill>
                  <a:srgbClr val="E6EDF3"/>
                </a:solidFill>
                <a:latin typeface="Calibri"/>
              </a:rPr>
              <a:t>  users, cache, jobs tables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F59E0B"/>
                </a:solidFill>
                <a:latin typeface="Consolas"/>
              </a:rPr>
              <a:t>  2026-06</a:t>
            </a:r>
            <a:r>
              <a:rPr sz="1000">
                <a:solidFill>
                  <a:srgbClr val="E6EDF3"/>
                </a:solidFill>
                <a:latin typeface="Calibri"/>
              </a:rPr>
              <a:t>  add role/suspension to users, activity_logs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F59E0B"/>
                </a:solidFill>
                <a:latin typeface="Consolas"/>
              </a:rPr>
              <a:t>  2026-06</a:t>
            </a:r>
            <a:r>
              <a:rPr sz="1000">
                <a:solidFill>
                  <a:srgbClr val="E6EDF3"/>
                </a:solidFill>
                <a:latin typeface="Calibri"/>
              </a:rPr>
              <a:t>  recipes, recipe_purchases (commerce tables)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F59E0B"/>
                </a:solidFill>
                <a:latin typeface="Consolas"/>
              </a:rPr>
              <a:t>  2026-06</a:t>
            </a:r>
            <a:r>
              <a:rPr sz="1000">
                <a:solidFill>
                  <a:srgbClr val="E6EDF3"/>
                </a:solidFill>
                <a:latin typeface="Calibri"/>
              </a:rPr>
              <a:t>  cooking_services, service_orders (booking tables)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388BFD"/>
                </a:solidFill>
                <a:latin typeface="Consolas"/>
              </a:rPr>
              <a:t>  2026-06</a:t>
            </a:r>
            <a:r>
              <a:rPr sz="1000">
                <a:solidFill>
                  <a:srgbClr val="E6EDF3"/>
                </a:solidFill>
                <a:latin typeface="Calibri"/>
              </a:rPr>
              <a:t>  add profile_photo, category/halal to recipes &amp; services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388BFD"/>
                </a:solidFill>
                <a:latin typeface="Consolas"/>
              </a:rPr>
              <a:t>  2026-06</a:t>
            </a:r>
            <a:r>
              <a:rPr sz="1000">
                <a:solidFill>
                  <a:srgbClr val="E6EDF3"/>
                </a:solidFill>
                <a:latin typeface="Calibri"/>
              </a:rPr>
              <a:t>  add rating columns to purchases and orders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23C55E"/>
                </a:solidFill>
                <a:latin typeface="Consolas"/>
              </a:rPr>
              <a:t>  2026-06</a:t>
            </a:r>
            <a:r>
              <a:rPr sz="1000">
                <a:solidFill>
                  <a:srgbClr val="E6EDF3"/>
                </a:solidFill>
                <a:latin typeface="Calibri"/>
              </a:rPr>
              <a:t>  add country + wallet_balance to users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23C55E"/>
                </a:solidFill>
                <a:latin typeface="Consolas"/>
              </a:rPr>
              <a:t>  2026-06</a:t>
            </a:r>
            <a:r>
              <a:rPr sz="1000">
                <a:solidFill>
                  <a:srgbClr val="E6EDF3"/>
                </a:solidFill>
                <a:latin typeface="Calibri"/>
              </a:rPr>
              <a:t>  add currency to recipes and cooking_services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23C55E"/>
                </a:solidFill>
                <a:latin typeface="Consolas"/>
              </a:rPr>
              <a:t>  2026-06</a:t>
            </a:r>
            <a:r>
              <a:rPr sz="1000">
                <a:solidFill>
                  <a:srgbClr val="E6EDF3"/>
                </a:solidFill>
                <a:latin typeface="Calibri"/>
              </a:rPr>
              <a:t>  wallet_transactions table (full ledger)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A371F7"/>
                </a:solidFill>
                <a:latin typeface="Consolas"/>
              </a:rPr>
              <a:t>  2026-07</a:t>
            </a:r>
            <a:r>
              <a:rPr sz="1000">
                <a:solidFill>
                  <a:srgbClr val="E6EDF3"/>
                </a:solidFill>
                <a:latin typeface="Calibri"/>
              </a:rPr>
              <a:t>  notifications table (polymorphic)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A371F7"/>
                </a:solidFill>
                <a:latin typeface="Consolas"/>
              </a:rPr>
              <a:t>  2026-07</a:t>
            </a:r>
            <a:r>
              <a:rPr sz="1000">
                <a:solidFill>
                  <a:srgbClr val="E6EDF3"/>
                </a:solidFill>
                <a:latin typeface="Calibri"/>
              </a:rPr>
              <a:t>  chat_rooms + chat_messages tables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A371F7"/>
                </a:solidFill>
                <a:latin typeface="Consolas"/>
              </a:rPr>
              <a:t>  2026-07</a:t>
            </a:r>
            <a:r>
              <a:rPr sz="1000">
                <a:solidFill>
                  <a:srgbClr val="E6EDF3"/>
                </a:solidFill>
                <a:latin typeface="Calibri"/>
              </a:rPr>
              <a:t>  follows pivot table (self-referencing many-to-many)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58A6FF"/>
                </a:solidFill>
                <a:latin typeface="Consolas"/>
              </a:rPr>
              <a:t>  2026-07</a:t>
            </a:r>
            <a:r>
              <a:rPr sz="1000">
                <a:solidFill>
                  <a:srgbClr val="E6EDF3"/>
                </a:solidFill>
                <a:latin typeface="Calibri"/>
              </a:rPr>
              <a:t>  add is_deleted + edited_at to chat_messages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58A6FF"/>
                </a:solidFill>
                <a:latin typeface="Consolas"/>
              </a:rPr>
              <a:t>  2026-07</a:t>
            </a:r>
            <a:r>
              <a:rPr sz="1000">
                <a:solidFill>
                  <a:srgbClr val="E6EDF3"/>
                </a:solidFill>
                <a:latin typeface="Calibri"/>
              </a:rPr>
              <a:t>  add reply_to_id (FK self-ref) to chat_messages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F85149"/>
                </a:solidFill>
                <a:latin typeface="Trebuchet MS"/>
              </a:defRPr>
            </a:pPr>
            <a:r>
              <a:t>05B  Database — Models &amp; Relationships</a:t>
            </a:r>
          </a:p>
          <a:p>
            <a:pPr>
              <a:spcBef>
                <a:spcPts val="0"/>
              </a:spcBef>
            </a:pPr>
            <a:r>
              <a:rPr sz="1200">
                <a:solidFill>
                  <a:srgbClr val="6E7681"/>
                </a:solidFill>
                <a:latin typeface="Calibri"/>
              </a:rPr>
              <a:t>9 Eloquent models and their foreign key relationships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96112"/>
            <a:ext cx="11064240" cy="1524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051560"/>
            <a:ext cx="11292840" cy="5394960"/>
          </a:xfrm>
          <a:prstGeom prst="roundRect">
            <a:avLst/>
          </a:prstGeom>
          <a:solidFill>
            <a:srgbClr val="161B22"/>
          </a:solidFill>
          <a:ln w="1778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188720"/>
            <a:ext cx="11064240" cy="5166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E6EDF3"/>
                </a:solidFill>
                <a:latin typeface="Trebuchet MS"/>
              </a:defRPr>
            </a:pPr>
            <a:r>
              <a:t>Relationship Map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F59E0B"/>
                </a:solidFill>
                <a:latin typeface="Consolas"/>
              </a:rPr>
              <a:t>  User</a:t>
            </a:r>
            <a:r>
              <a:rPr sz="900">
                <a:solidFill>
                  <a:srgbClr val="6E7681"/>
                </a:solidFill>
                <a:latin typeface="Calibri"/>
              </a:rPr>
              <a:t>  [CORE]</a:t>
            </a:r>
            <a:r>
              <a:rPr sz="950">
                <a:solidFill>
                  <a:srgbClr val="E6EDF3"/>
                </a:solidFill>
                <a:latin typeface="Calibri"/>
              </a:rPr>
              <a:t>  role (customer/cooker/admin), wallet_balance, country, is_suspended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F59E0B"/>
                </a:solidFill>
                <a:latin typeface="Consolas"/>
              </a:rPr>
              <a:t>  → hasMany</a:t>
            </a:r>
            <a:r>
              <a:rPr sz="950">
                <a:solidFill>
                  <a:srgbClr val="E6EDF3"/>
                </a:solidFill>
                <a:latin typeface="Calibri"/>
              </a:rPr>
              <a:t>  recipes, cooking_services, wallet_transactions, activity_logs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F59E0B"/>
                </a:solidFill>
                <a:latin typeface="Consolas"/>
              </a:rPr>
              <a:t>  → belongsToMany</a:t>
            </a:r>
            <a:r>
              <a:rPr sz="950">
                <a:solidFill>
                  <a:srgbClr val="E6EDF3"/>
                </a:solidFill>
                <a:latin typeface="Calibri"/>
              </a:rPr>
              <a:t>  followers (self-ref via follows pivot: follower_id ↔ cooker_id)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388BFD"/>
                </a:solidFill>
                <a:latin typeface="Consolas"/>
              </a:rPr>
              <a:t>  Recipe</a:t>
            </a:r>
            <a:r>
              <a:rPr sz="900">
                <a:solidFill>
                  <a:srgbClr val="6E7681"/>
                </a:solidFill>
                <a:latin typeface="Calibri"/>
              </a:rPr>
              <a:t>  [COMMERCE]</a:t>
            </a:r>
            <a:r>
              <a:rPr sz="950">
                <a:solidFill>
                  <a:srgbClr val="E6EDF3"/>
                </a:solidFill>
                <a:latin typeface="Calibri"/>
              </a:rPr>
              <a:t>  cooker_id FK, price, currency, category, is_halal, is_published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388BFD"/>
                </a:solidFill>
                <a:latin typeface="Consolas"/>
              </a:rPr>
              <a:t>  → hasMany</a:t>
            </a:r>
            <a:r>
              <a:rPr sz="950">
                <a:solidFill>
                  <a:srgbClr val="E6EDF3"/>
                </a:solidFill>
                <a:latin typeface="Calibri"/>
              </a:rPr>
              <a:t>  recipe_purchases (pivot: amount_paid, rating, review, rated_at)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23C55E"/>
                </a:solidFill>
                <a:latin typeface="Consolas"/>
              </a:rPr>
              <a:t>  CookingService</a:t>
            </a:r>
            <a:r>
              <a:rPr sz="900">
                <a:solidFill>
                  <a:srgbClr val="6E7681"/>
                </a:solidFill>
                <a:latin typeface="Calibri"/>
              </a:rPr>
              <a:t>  [BOOKING]</a:t>
            </a:r>
            <a:r>
              <a:rPr sz="950">
                <a:solidFill>
                  <a:srgbClr val="E6EDF3"/>
                </a:solidFill>
                <a:latin typeface="Calibri"/>
              </a:rPr>
              <a:t>  cooker_id FK, price, currency, is_available, category, is_halal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23C55E"/>
                </a:solidFill>
                <a:latin typeface="Consolas"/>
              </a:rPr>
              <a:t>  → hasMany</a:t>
            </a:r>
            <a:r>
              <a:rPr sz="950">
                <a:solidFill>
                  <a:srgbClr val="E6EDF3"/>
                </a:solidFill>
                <a:latin typeface="Calibri"/>
              </a:rPr>
              <a:t>  service_orders (customer_id, cooker_id, status: pending→confirmed→completed→cancelled)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58A6FF"/>
                </a:solidFill>
                <a:latin typeface="Consolas"/>
              </a:rPr>
              <a:t>  WalletTransaction</a:t>
            </a:r>
            <a:r>
              <a:rPr sz="900">
                <a:solidFill>
                  <a:srgbClr val="6E7681"/>
                </a:solidFill>
                <a:latin typeface="Calibri"/>
              </a:rPr>
              <a:t>  [FINANCE]</a:t>
            </a:r>
            <a:r>
              <a:rPr sz="950">
                <a:solidFill>
                  <a:srgbClr val="E6EDF3"/>
                </a:solidFill>
                <a:latin typeface="Calibri"/>
              </a:rPr>
              <a:t>  user_id FK, amount, currency, original_amount, exchange_rate, type (deposit/purchase)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A371F7"/>
                </a:solidFill>
                <a:latin typeface="Consolas"/>
              </a:rPr>
              <a:t>  ChatRoom</a:t>
            </a:r>
            <a:r>
              <a:rPr sz="900">
                <a:solidFill>
                  <a:srgbClr val="6E7681"/>
                </a:solidFill>
                <a:latin typeface="Calibri"/>
              </a:rPr>
              <a:t>  [CHAT]</a:t>
            </a:r>
            <a:r>
              <a:rPr sz="950">
                <a:solidFill>
                  <a:srgbClr val="E6EDF3"/>
                </a:solidFill>
                <a:latin typeface="Calibri"/>
              </a:rPr>
              <a:t>  customer_id FK + cooker_id FK — unique pair constraint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A371F7"/>
                </a:solidFill>
                <a:latin typeface="Consolas"/>
              </a:rPr>
              <a:t>  ChatMessage</a:t>
            </a:r>
            <a:r>
              <a:rPr sz="900">
                <a:solidFill>
                  <a:srgbClr val="6E7681"/>
                </a:solidFill>
                <a:latin typeface="Calibri"/>
              </a:rPr>
              <a:t>  [CHAT]</a:t>
            </a:r>
            <a:r>
              <a:rPr sz="950">
                <a:solidFill>
                  <a:srgbClr val="E6EDF3"/>
                </a:solidFill>
                <a:latin typeface="Calibri"/>
              </a:rPr>
              <a:t>  chat_room_id FK, sender_id FK, reply_to_id (self-ref FK, nullOnDelete)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F85149"/>
                </a:solidFill>
                <a:latin typeface="Consolas"/>
              </a:rPr>
              <a:t>  ActivityLog</a:t>
            </a:r>
            <a:r>
              <a:rPr sz="900">
                <a:solidFill>
                  <a:srgbClr val="6E7681"/>
                </a:solidFill>
                <a:latin typeface="Calibri"/>
              </a:rPr>
              <a:t>  [AUDIT]</a:t>
            </a:r>
            <a:r>
              <a:rPr sz="950">
                <a:solidFill>
                  <a:srgbClr val="E6EDF3"/>
                </a:solidFill>
                <a:latin typeface="Calibri"/>
              </a:rPr>
              <a:t>  user_id FK, action, description — chronological admin action trail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E6EDF3"/>
                </a:solidFill>
                <a:latin typeface="Consolas"/>
              </a:rPr>
              <a:t>  Notifications</a:t>
            </a:r>
            <a:r>
              <a:rPr sz="900">
                <a:solidFill>
                  <a:srgbClr val="6E7681"/>
                </a:solidFill>
                <a:latin typeface="Calibri"/>
              </a:rPr>
              <a:t>  [SYSTEM]</a:t>
            </a:r>
            <a:r>
              <a:rPr sz="950">
                <a:solidFill>
                  <a:srgbClr val="E6EDF3"/>
                </a:solidFill>
                <a:latin typeface="Calibri"/>
              </a:rPr>
              <a:t>  Polymorphic (notifiable_type + notifiable_id) — Laravel native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F59E0B"/>
                </a:solidFill>
                <a:latin typeface="Trebuchet MS"/>
              </a:defRPr>
            </a:pPr>
            <a:r>
              <a:t>Technical Summary — Yumz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96112"/>
            <a:ext cx="11064240" cy="15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024128"/>
            <a:ext cx="11292840" cy="841248"/>
          </a:xfrm>
          <a:prstGeom prst="roundRect">
            <a:avLst/>
          </a:prstGeom>
          <a:solidFill>
            <a:srgbClr val="161B22"/>
          </a:solidFill>
          <a:ln w="1778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316736"/>
            <a:ext cx="1261872" cy="256032"/>
          </a:xfrm>
          <a:prstGeom prst="roundRect">
            <a:avLst/>
          </a:prstGeom>
          <a:solidFill>
            <a:srgbClr val="3D270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tIns="0" rIns="54864" bIns="0"/>
          <a:lstStyle/>
          <a:p>
            <a:pPr algn="ctr">
              <a:defRPr sz="900" b="1">
                <a:solidFill>
                  <a:srgbClr val="F59E0B"/>
                </a:solidFill>
                <a:latin typeface="Consolas"/>
              </a:defRPr>
            </a:pPr>
            <a:r>
              <a:t>External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207008"/>
            <a:ext cx="877824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E6EDF3"/>
                </a:solidFill>
                <a:latin typeface="Calibri"/>
              </a:rPr>
              <a:t>Frankfurter API for live IDR/SGD/MYR rates — Redis-cached 1h, 5s timeout guard, static fallback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956816"/>
            <a:ext cx="11292840" cy="841248"/>
          </a:xfrm>
          <a:prstGeom prst="roundRect">
            <a:avLst/>
          </a:prstGeom>
          <a:solidFill>
            <a:srgbClr val="161B22"/>
          </a:solidFill>
          <a:ln w="17780">
            <a:solidFill>
              <a:srgbClr val="388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2249424"/>
            <a:ext cx="1344168" cy="256032"/>
          </a:xfrm>
          <a:prstGeom prst="roundRect">
            <a:avLst/>
          </a:prstGeom>
          <a:solidFill>
            <a:srgbClr val="0E223F"/>
          </a:solidFill>
          <a:ln w="12700">
            <a:solidFill>
              <a:srgbClr val="388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tIns="0" rIns="54864" bIns="0"/>
          <a:lstStyle/>
          <a:p>
            <a:pPr algn="ctr">
              <a:defRPr sz="900" b="1">
                <a:solidFill>
                  <a:srgbClr val="388BFD"/>
                </a:solidFill>
                <a:latin typeface="Consolas"/>
              </a:defRPr>
            </a:pPr>
            <a:r>
              <a:t>Internal APIs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139696"/>
            <a:ext cx="877824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E6EDF3"/>
                </a:solidFill>
                <a:latin typeface="Calibri"/>
              </a:rPr>
              <a:t>5 AJAX endpoints — currency convert, order status polling, chat messages, notifications badge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889504"/>
            <a:ext cx="11292840" cy="841248"/>
          </a:xfrm>
          <a:prstGeom prst="roundRect">
            <a:avLst/>
          </a:prstGeom>
          <a:solidFill>
            <a:srgbClr val="161B22"/>
          </a:solidFill>
          <a:ln w="17780">
            <a:solidFill>
              <a:srgbClr val="388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3182112"/>
            <a:ext cx="1344168" cy="256032"/>
          </a:xfrm>
          <a:prstGeom prst="roundRect">
            <a:avLst/>
          </a:prstGeom>
          <a:solidFill>
            <a:srgbClr val="0E223F"/>
          </a:solidFill>
          <a:ln w="12700">
            <a:solidFill>
              <a:srgbClr val="388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tIns="0" rIns="54864" bIns="0"/>
          <a:lstStyle/>
          <a:p>
            <a:pPr algn="ctr">
              <a:defRPr sz="900" b="1">
                <a:solidFill>
                  <a:srgbClr val="388BFD"/>
                </a:solidFill>
                <a:latin typeface="Consolas"/>
              </a:defRPr>
            </a:pPr>
            <a:r>
              <a:t>App 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072384"/>
            <a:ext cx="877824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E6EDF3"/>
                </a:solidFill>
                <a:latin typeface="Calibri"/>
              </a:rPr>
              <a:t>13 Controllers · 9 Models · 3 Events · 3 Notifications · 1 Middleware · 1 Service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822192"/>
            <a:ext cx="11292840" cy="841248"/>
          </a:xfrm>
          <a:prstGeom prst="roundRect">
            <a:avLst/>
          </a:prstGeom>
          <a:solidFill>
            <a:srgbClr val="161B22"/>
          </a:solidFill>
          <a:ln w="17780">
            <a:solidFill>
              <a:srgbClr val="A37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4114800"/>
            <a:ext cx="1426464" cy="256032"/>
          </a:xfrm>
          <a:prstGeom prst="roundRect">
            <a:avLst/>
          </a:prstGeom>
          <a:solidFill>
            <a:srgbClr val="281C3D"/>
          </a:solidFill>
          <a:ln w="12700">
            <a:solidFill>
              <a:srgbClr val="A37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tIns="0" rIns="54864" bIns="0"/>
          <a:lstStyle/>
          <a:p>
            <a:pPr algn="ctr">
              <a:defRPr sz="900" b="1">
                <a:solidFill>
                  <a:srgbClr val="A371F7"/>
                </a:solidFill>
                <a:latin typeface="Consolas"/>
              </a:defRPr>
            </a:pPr>
            <a:r>
              <a:t>Laravel Reverb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4005072"/>
            <a:ext cx="877824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E6EDF3"/>
                </a:solidFill>
                <a:latin typeface="Calibri"/>
              </a:rPr>
              <a:t>Self-hosted WS server on :8080 — 3 broadcast events (sent/edited/deleted), 2 private channels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754880"/>
            <a:ext cx="11292840" cy="841248"/>
          </a:xfrm>
          <a:prstGeom prst="roundRect">
            <a:avLst/>
          </a:prstGeom>
          <a:solidFill>
            <a:srgbClr val="161B22"/>
          </a:solidFill>
          <a:ln w="17780">
            <a:solidFill>
              <a:srgbClr val="23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" y="5047488"/>
            <a:ext cx="1261872" cy="256032"/>
          </a:xfrm>
          <a:prstGeom prst="roundRect">
            <a:avLst/>
          </a:prstGeom>
          <a:solidFill>
            <a:srgbClr val="083117"/>
          </a:solidFill>
          <a:ln w="12700">
            <a:solidFill>
              <a:srgbClr val="23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tIns="0" rIns="54864" bIns="0"/>
          <a:lstStyle/>
          <a:p>
            <a:pPr algn="ctr">
              <a:defRPr sz="900" b="1">
                <a:solidFill>
                  <a:srgbClr val="23C55E"/>
                </a:solidFill>
                <a:latin typeface="Consolas"/>
              </a:defRPr>
            </a:pPr>
            <a:r>
              <a:t>Docker Stack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4937760"/>
            <a:ext cx="877824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E6EDF3"/>
                </a:solidFill>
                <a:latin typeface="Calibri"/>
              </a:rPr>
              <a:t>3 containers — laravel.test (PHP 8.3) + postgres:16 + redis:alpine — Sail preconfigured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687568"/>
            <a:ext cx="11292840" cy="841248"/>
          </a:xfrm>
          <a:prstGeom prst="roundRect">
            <a:avLst/>
          </a:prstGeom>
          <a:solidFill>
            <a:srgbClr val="161B22"/>
          </a:solidFill>
          <a:ln w="1778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" y="5980176"/>
            <a:ext cx="932688" cy="256032"/>
          </a:xfrm>
          <a:prstGeom prst="roundRect">
            <a:avLst/>
          </a:prstGeom>
          <a:solidFill>
            <a:srgbClr val="3E1412"/>
          </a:solidFill>
          <a:ln w="127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tIns="0" rIns="54864" bIns="0"/>
          <a:lstStyle/>
          <a:p>
            <a:pPr algn="ctr">
              <a:defRPr sz="900" b="1">
                <a:solidFill>
                  <a:srgbClr val="F85149"/>
                </a:solidFill>
                <a:latin typeface="Consolas"/>
              </a:defRPr>
            </a:pPr>
            <a:r>
              <a:t>Database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5870448"/>
            <a:ext cx="877824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E6EDF3"/>
                </a:solidFill>
                <a:latin typeface="Calibri"/>
              </a:rPr>
              <a:t>PostgreSQL 16 — 25 migrations — 9 core tables with FK constraints and cascading deletes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