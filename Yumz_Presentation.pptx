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96512" y="0"/>
            <a:ext cx="36576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6400" b="1">
                <a:solidFill>
                  <a:srgbClr val="F59E0B"/>
                </a:solidFill>
                <a:latin typeface="Trebuchet MS"/>
              </a:defRPr>
            </a:pPr>
            <a:r>
              <a:t>YUMZ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2200">
                <a:solidFill>
                  <a:srgbClr val="F9FAFB"/>
                </a:solidFill>
                <a:latin typeface="Trebuchet MS"/>
              </a:defRPr>
            </a:pPr>
            <a:r>
              <a:t>Role-Based Culinary Marketplace Platform</a:t>
            </a:r>
          </a:p>
          <a:p>
            <a:pPr>
              <a:defRPr sz="1400">
                <a:solidFill>
                  <a:srgbClr val="9CA3AF"/>
                </a:solidFill>
                <a:latin typeface="Calibri"/>
              </a:defRPr>
            </a:pPr>
            <a:r>
              <a:t>Bridging Food Enthusiasts, Chefs &amp;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F59E0B"/>
                </a:solidFill>
                <a:latin typeface="Trebuchet MS"/>
              </a:defRPr>
            </a:pPr>
            <a:r>
              <a:t>PROJECT OVERVIEW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t>Presenter: Erwan</a:t>
            </a:r>
          </a:p>
          <a:p>
            <a:pPr>
              <a:spcAft>
                <a:spcPts val="8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t>Lecturer: Dr Ng Choon Ching</a:t>
            </a:r>
          </a:p>
          <a:p>
            <a:pPr>
              <a:spcAft>
                <a:spcPts val="2400"/>
              </a:spcAft>
              <a:defRPr sz="1400">
                <a:solidFill>
                  <a:srgbClr val="F9FAFB"/>
                </a:solidFill>
                <a:latin typeface="Calibri"/>
              </a:defRPr>
            </a:pPr>
            <a:r>
              <a:t>Institution: Raffles University</a:t>
            </a:r>
          </a:p>
          <a:p>
            <a:pPr>
              <a:defRPr sz="1200">
                <a:solidFill>
                  <a:srgbClr val="9CA3AF"/>
                </a:solidFill>
                <a:latin typeface="Calibri"/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1. Project Description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Platform Vision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Market Connectivity:</a:t>
            </a:r>
            <a:r>
              <a:rPr b="0" sz="1200">
                <a:solidFill>
                  <a:srgbClr val="F9FAFB"/>
                </a:solidFill>
                <a:latin typeface="Calibri"/>
              </a:rPr>
              <a:t> Connects food enthusiasts (Customers) and verified professional cooks (Cookers) in a single unified platform.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Southeast Asian Focus:</a:t>
            </a:r>
            <a:r>
              <a:rPr b="0" sz="1200">
                <a:solidFill>
                  <a:srgbClr val="F9FAFB"/>
                </a:solidFill>
                <a:latin typeface="Calibri"/>
              </a:rPr>
              <a:t> Designed to operate in regional culinary hubs including Malaysia, Singapore, and Indonesia.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Gig Economy Support:</a:t>
            </a:r>
            <a:r>
              <a:rPr b="0" sz="1200">
                <a:solidFill>
                  <a:srgbClr val="F9FAFB"/>
                </a:solidFill>
                <a:latin typeface="Calibri"/>
              </a:rPr>
              <a:t> Empowers local culinary experts to monetize their talents independently through recipes and catering.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All-in-One Experience:</a:t>
            </a:r>
            <a:r>
              <a:rPr b="0" sz="1200">
                <a:solidFill>
                  <a:srgbClr val="F9FAFB"/>
                </a:solidFill>
                <a:latin typeface="Calibri"/>
              </a:rPr>
              <a:t> Seamlessly blends digital recipe purchasing, personal chef bookings, and secure payment wallets.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Core Objectives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Monetize Recipes:</a:t>
            </a:r>
            <a:r>
              <a:rPr b="0" sz="1200">
                <a:solidFill>
                  <a:srgbClr val="F9FAFB"/>
                </a:solidFill>
                <a:latin typeface="Calibri"/>
              </a:rPr>
              <a:t> Allow cookers to list recipes with pricing, halality, cover images, and purchase security.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Service Bookings:</a:t>
            </a:r>
            <a:r>
              <a:rPr b="0" sz="1200">
                <a:solidFill>
                  <a:srgbClr val="F9FAFB"/>
                </a:solidFill>
                <a:latin typeface="Calibri"/>
              </a:rPr>
              <a:t> Provide standard service contracts where clients hire chefs, with detailed status tracking.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Multi-Currency Wallet:</a:t>
            </a:r>
            <a:r>
              <a:rPr b="0" sz="1200">
                <a:solidFill>
                  <a:srgbClr val="F9FAFB"/>
                </a:solidFill>
                <a:latin typeface="Calibri"/>
              </a:rPr>
              <a:t> Facilitate regional trade by supporting IDR, MYR, and SGD balances with automated conversion.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Real-Time Engagement:</a:t>
            </a:r>
            <a:r>
              <a:rPr b="0" sz="1200">
                <a:solidFill>
                  <a:srgbClr val="F9FAFB"/>
                </a:solidFill>
                <a:latin typeface="Calibri"/>
              </a:rPr>
              <a:t> Deliver low-latency chat channels and instant event-driven notification alerts.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Role Separation: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Guard permissions dynamically based on User Roles (Customer, Cooker, Admin).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2. Role-Based Dashboards &amp;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Customer (Client)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Browse Chefs:</a:t>
            </a:r>
            <a:r>
              <a:rPr b="0" sz="1200">
                <a:solidFill>
                  <a:srgbClr val="F9FAFB"/>
                </a:solidFill>
                <a:latin typeface="Calibri"/>
              </a:rPr>
              <a:t> Find professional cooks, read ratings, and follow updates.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Recipe Shop:</a:t>
            </a:r>
            <a:r>
              <a:rPr b="0" sz="1200">
                <a:solidFill>
                  <a:srgbClr val="F9FAFB"/>
                </a:solidFill>
                <a:latin typeface="Calibri"/>
              </a:rPr>
              <a:t> Buy digital recipe instructions and write reviews.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Chef Bookings:</a:t>
            </a:r>
            <a:r>
              <a:rPr b="0" sz="1200">
                <a:solidFill>
                  <a:srgbClr val="F9FAFB"/>
                </a:solidFill>
                <a:latin typeface="Calibri"/>
              </a:rPr>
              <a:t> Hire chefs for service jobs and track cooking status.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Wallet System:</a:t>
            </a:r>
            <a:r>
              <a:rPr b="0" sz="1200">
                <a:solidFill>
                  <a:srgbClr val="F9FAFB"/>
                </a:solidFill>
                <a:latin typeface="Calibri"/>
              </a:rPr>
              <a:t> Deposit funds in local currencies (SGD, MYR, IDR) with live balance swaps.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Interactive Chat:</a:t>
            </a:r>
            <a:r>
              <a:rPr b="0" sz="1200">
                <a:solidFill>
                  <a:srgbClr val="F9FAFB"/>
                </a:solidFill>
                <a:latin typeface="Calibri"/>
              </a:rPr>
              <a:t> Send real-time messages and replies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Cooker (Chef)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Profile Setup:</a:t>
            </a:r>
            <a:r>
              <a:rPr b="0" sz="1200">
                <a:solidFill>
                  <a:srgbClr val="F9FAFB"/>
                </a:solidFill>
                <a:latin typeface="Calibri"/>
              </a:rPr>
              <a:t> Display credentials, culinary focus, rating history, and links.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Recipe Manager:</a:t>
            </a:r>
            <a:r>
              <a:rPr b="0" sz="1200">
                <a:solidFill>
                  <a:srgbClr val="F9FAFB"/>
                </a:solidFill>
                <a:latin typeface="Calibri"/>
              </a:rPr>
              <a:t> Upload recipes, adjust availability, and edit details.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Service Control:</a:t>
            </a:r>
            <a:r>
              <a:rPr b="0" sz="1200">
                <a:solidFill>
                  <a:srgbClr val="F9FAFB"/>
                </a:solidFill>
                <a:latin typeface="Calibri"/>
              </a:rPr>
              <a:t> Offer specific catering or cooking services with toggle status.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Order Fulfillment:</a:t>
            </a:r>
            <a:r>
              <a:rPr b="0" sz="1200">
                <a:solidFill>
                  <a:srgbClr val="F9FAFB"/>
                </a:solidFill>
                <a:latin typeface="Calibri"/>
              </a:rPr>
              <a:t> View received service orders and dispatch progress.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Real-Time Chat:</a:t>
            </a:r>
            <a:r>
              <a:rPr b="0" sz="1200">
                <a:solidFill>
                  <a:srgbClr val="F9FAFB"/>
                </a:solidFill>
                <a:latin typeface="Calibri"/>
              </a:rPr>
              <a:t> Communicate with customers and negotiate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Administrator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User Moderation: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Access profile directory, update parameters, and suspend accounts.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Content Guard:</a:t>
            </a:r>
            <a:r>
              <a:rPr b="0" sz="1200">
                <a:solidFill>
                  <a:srgbClr val="F9FAFB"/>
                </a:solidFill>
                <a:latin typeface="Calibri"/>
              </a:rPr>
              <a:t> Moderate recipes and services to verify compliance.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Financial Ledger:</a:t>
            </a:r>
            <a:r>
              <a:rPr b="0" sz="1200">
                <a:solidFill>
                  <a:srgbClr val="F9FAFB"/>
                </a:solidFill>
                <a:latin typeface="Calibri"/>
              </a:rPr>
              <a:t> Audit transaction history (deposits, purchases, conversions).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Security Audit:</a:t>
            </a:r>
            <a:r>
              <a:rPr b="0" sz="1200">
                <a:solidFill>
                  <a:srgbClr val="F9FAFB"/>
                </a:solidFill>
                <a:latin typeface="Calibri"/>
              </a:rPr>
              <a:t> View full chronologically sorted Activity Logs of all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3. System Architecture &amp; Tech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Backend Framework:</a:t>
            </a:r>
            <a:r>
              <a:rPr b="0" sz="1200">
                <a:solidFill>
                  <a:srgbClr val="F9FAFB"/>
                </a:solidFill>
                <a:latin typeface="Calibri"/>
              </a:rPr>
              <a:t> Laravel 11 (PHP 8.2+) providing core routing, MVC structure, and Eloquent ORM.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Database Engine:</a:t>
            </a:r>
            <a:r>
              <a:rPr b="0" sz="1200">
                <a:solidFill>
                  <a:srgbClr val="F9FAFB"/>
                </a:solidFill>
                <a:latin typeface="Calibri"/>
              </a:rPr>
              <a:t> PostgreSQL 16 managing relational persistence with rigid foreign key integrity.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Caching &amp; Storage:</a:t>
            </a:r>
            <a:r>
              <a:rPr b="0" sz="1200">
                <a:solidFill>
                  <a:srgbClr val="F9FAFB"/>
                </a:solidFill>
                <a:latin typeface="Calibri"/>
              </a:rPr>
              <a:t> Redis server handling fast session stores, exchange rates cache, and high-speed data.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Real-Time Engine:</a:t>
            </a:r>
            <a:r>
              <a:rPr b="0" sz="1200">
                <a:solidFill>
                  <a:srgbClr val="F9FAFB"/>
                </a:solidFill>
                <a:latin typeface="Calibri"/>
              </a:rPr>
              <a:t> Laravel Reverb WebSocket server integrated natively to handle instant message broadcasting.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Frontend Layout:</a:t>
            </a:r>
            <a:r>
              <a:rPr b="0" sz="1200">
                <a:solidFill>
                  <a:srgbClr val="F9FAFB"/>
                </a:solidFill>
                <a:latin typeface="Calibri"/>
              </a:rPr>
              <a:t> Server-rendered Blade Templates stylized with custom Vanilla CSS and interactive AJAX.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Architecture Overview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Unified Routes:</a:t>
            </a:r>
            <a:r>
              <a:rPr b="0" sz="1200">
                <a:solidFill>
                  <a:srgbClr val="F9FAFB"/>
                </a:solidFill>
                <a:latin typeface="Calibri"/>
              </a:rPr>
              <a:t> Protected paths divided into Middleware groups (Auth, Roles, Suspension checks).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Slim Controllers:</a:t>
            </a:r>
            <a:r>
              <a:rPr b="0" sz="1200">
                <a:solidFill>
                  <a:srgbClr val="F9FAFB"/>
                </a:solidFill>
                <a:latin typeface="Calibri"/>
              </a:rPr>
              <a:t> Keeps logic decoupled by delegating operations to Eloquent Models and Service Layers.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Responsive Bundler:</a:t>
            </a:r>
            <a:r>
              <a:rPr b="0" sz="1200">
                <a:solidFill>
                  <a:srgbClr val="F9FAFB"/>
                </a:solidFill>
                <a:latin typeface="Calibri"/>
              </a:rPr>
              <a:t> Vite integration dynamically packages JS/CSS resources for optimized rendering.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Robust Security:</a:t>
            </a:r>
            <a:r>
              <a:rPr b="0" sz="1200">
                <a:solidFill>
                  <a:srgbClr val="F9FAFB"/>
                </a:solidFill>
                <a:latin typeface="Calibri"/>
              </a:rPr>
              <a:t> Multi-level middleware checks user suspension status at the route level to restrict actions.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Events &amp; Broadcasting: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Decoupled events broadcast updates to customer screens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4. Database Schema &amp; Data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289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Relational Model: Nine Core Database Tables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User Core: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'users' table serves as the primary entity. Users act as Customers, Cookers, or Admins via the 'role' field.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Follows Pivot:</a:t>
            </a:r>
            <a:r>
              <a:rPr b="0" sz="1100">
                <a:solidFill>
                  <a:srgbClr val="F9FAFB"/>
                </a:solidFill>
                <a:latin typeface="Calibri"/>
              </a:rPr>
              <a:t> A self-referencing many-to-many junction table ('follows') links followers to culinary profiles.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Recipe Commerce: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'recipes' table stores pricing and category info. Many-to-many relationships are solved via 'recipe_purchases', which records purchases, rating scores, and written reviews.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Service Contracts: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'cooking_services' table defines chef offerings, linked to clients via 'service_orders' which tracks contract steps (pending, confirmed, completed, cancelled) and stores rating scores.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Financial Ledger: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'wallet_transactions' ledger logs deposit records, purchase deductions, original rates, and conversion audits.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WebSocket Messaging: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'chat_rooms' table establishes private lines. 'chat_messages' stores texts, attachments, and a self-referential 'reply_to_id' for sub-threads.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Audit Ledger:</a:t>
            </a:r>
            <a:r>
              <a:rPr b="0" sz="1100">
                <a:solidFill>
                  <a:srgbClr val="F9FAFB"/>
                </a:solidFill>
                <a:latin typeface="Calibri"/>
              </a:rPr>
              <a:t> The 'activity_logs' ledger stores historical records of administrative actions for transparency.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100">
                <a:solidFill>
                  <a:srgbClr val="F59E0B"/>
                </a:solidFill>
                <a:latin typeface="Calibri"/>
              </a:rPr>
              <a:t>Polymorphic Notifications:</a:t>
            </a:r>
            <a:r>
              <a:rPr b="0" sz="1100">
                <a:solidFill>
                  <a:srgbClr val="F9FAFB"/>
                </a:solidFill>
                <a:latin typeface="Calibri"/>
              </a:rPr>
              <a:t> Employs Laravel's native database engine utilizing polymorphic morph fields to bind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5. Marketplace &amp; Wallet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Recipe &amp; Service Commerce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Recipe Publisher:</a:t>
            </a:r>
            <a:r>
              <a:rPr b="0" sz="1200">
                <a:solidFill>
                  <a:srgbClr val="F9FAFB"/>
                </a:solidFill>
                <a:latin typeface="Calibri"/>
              </a:rPr>
              <a:t> Chefs can upload recipes with photos, prices, halality indicators, and detailed instructions.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Instant Access:</a:t>
            </a:r>
            <a:r>
              <a:rPr b="0" sz="1200">
                <a:solidFill>
                  <a:srgbClr val="F9FAFB"/>
                </a:solidFill>
                <a:latin typeface="Calibri"/>
              </a:rPr>
              <a:t> Purchases are processed immediately, unlocking instructions and creating transaction records.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Feedback Loop:</a:t>
            </a:r>
            <a:r>
              <a:rPr b="0" sz="1200">
                <a:solidFill>
                  <a:srgbClr val="F9FAFB"/>
                </a:solidFill>
                <a:latin typeface="Calibri"/>
              </a:rPr>
              <a:t> Customers submit reviews and ratings to guide others in the marketplace.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Chef Hiring: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Dedicated service profiles allow cookers to publish services (e.g., 'Catering for 10').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Order Stepper:</a:t>
            </a:r>
            <a:r>
              <a:rPr b="0" sz="1200">
                <a:solidFill>
                  <a:srgbClr val="F9FAFB"/>
                </a:solidFill>
                <a:latin typeface="Calibri"/>
              </a:rPr>
              <a:t> Custom order workflow allows customers to track progression status visually.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Multi-Currency Wallet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Regional Support:</a:t>
            </a:r>
            <a:r>
              <a:rPr b="0" sz="1200">
                <a:solidFill>
                  <a:srgbClr val="F9FAFB"/>
                </a:solidFill>
                <a:latin typeface="Calibri"/>
              </a:rPr>
              <a:t> Supports Singapore Dollar (SGD), Malaysian Ringgit (MYR), and Indonesian Rupiah (IDR).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Live Conversion: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Swaps currencies using a dynamic Currency API endpoint based on cooker and client region.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Redis Caching: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Exchange rates are cached in Redis to minimize API latency and fallback to file cache if needed.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Financial Auditing: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A ledger records balance changes, exchange rates, and original transaction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6. Real-Time Chat &amp; Alerts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Private Chat Interface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WebSocket Driven:</a:t>
            </a:r>
            <a:r>
              <a:rPr b="0" sz="1200">
                <a:solidFill>
                  <a:srgbClr val="F9FAFB"/>
                </a:solidFill>
                <a:latin typeface="Calibri"/>
              </a:rPr>
              <a:t> Dynamic connection powered by Laravel Reverb WebSockets for instant message delivery.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Interactive Actions:</a:t>
            </a:r>
            <a:r>
              <a:rPr b="0" sz="1200">
                <a:solidFill>
                  <a:srgbClr val="F9FAFB"/>
                </a:solidFill>
                <a:latin typeface="Calibri"/>
              </a:rPr>
              <a:t> Users can edit sent messages, delete messages, and select a message to thread a reply.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Media Attachments:</a:t>
            </a:r>
            <a:r>
              <a:rPr b="0" sz="1200">
                <a:solidFill>
                  <a:srgbClr val="F9FAFB"/>
                </a:solidFill>
                <a:latin typeface="Calibri"/>
              </a:rPr>
              <a:t> Direct upload support for sharing images inside chat rooms.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Connection Failover:</a:t>
            </a:r>
            <a:r>
              <a:rPr b="0" sz="1200">
                <a:solidFill>
                  <a:srgbClr val="F9FAFB"/>
                </a:solidFill>
                <a:latin typeface="Calibri"/>
              </a:rPr>
              <a:t> Polling mechanism checks for network breaks and falls back to AJAX polling if WebSockets disconnect.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Polymorphic Notification Hub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Instant Badging: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Live unread message counts display on top-navigation bell icon via real-time WebSocket updates.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Database Persistence:</a:t>
            </a:r>
            <a:r>
              <a:rPr b="0" sz="1200">
                <a:solidFill>
                  <a:srgbClr val="F9FAFB"/>
                </a:solidFill>
                <a:latin typeface="Calibri"/>
              </a:rPr>
              <a:t> Notifications are stored inside the DB to allow retrieval across multiple devices.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Direct Redirections:</a:t>
            </a:r>
            <a:r>
              <a:rPr b="0" sz="1200">
                <a:solidFill>
                  <a:srgbClr val="F9FAFB"/>
                </a:solidFill>
                <a:latin typeface="Calibri"/>
              </a:rPr>
              <a:t> Clicking a notification automatically marks it as read and redirects the user to the correct page.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7. Challenges Faced &amp; Resolved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A. Multi-Currency Performance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Fetching live exchange rates on every page load created severe database and external network latency.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Implemented an AJAX converter endpoint (/api/currency/convert) loaded asynchronously after page paint. Exchange rates are cached in Redis (with local file fallback) to ensure zero database load.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Benefit:</a:t>
            </a:r>
            <a:r>
              <a:rPr b="0" sz="1200">
                <a:solidFill>
                  <a:srgbClr val="F9FAFB"/>
                </a:solidFill>
                <a:latin typeface="Calibri"/>
              </a:rPr>
              <a:t> Instant page loads combined with live, dynamic currency conversions.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B. Real-Time WebSockets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Third-party WebSocket options like Pusher charge heavy subscription fees for high-frequency messages.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Configured Laravel Reverb (Laravel's native first-party WebSocket package) to run inside the Docker stack.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Reliability:</a:t>
            </a:r>
            <a:r>
              <a:rPr b="0" sz="1200">
                <a:solidFill>
                  <a:srgbClr val="F9FAFB"/>
                </a:solidFill>
                <a:latin typeface="Calibri"/>
              </a:rPr>
              <a:t> Added a JavaScript-based client failover which triggers AJAX polling if connection issues occur.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C. Dashboard Security Guards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Protecting access across three distinct user roles without writing repetitive route guard filters.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Created a customized RoleMiddleware that intercept routes dynamically. Built post-login logic in LoginController to route authenticated users to their corresponding dashboard panels.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8. Challenges Faced &amp; Resolved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D. Wallet Concurrency Locks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Parallel purchases by a single user could bypass validation, causing negative wallet balances.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Wrapped purchase operations inside database Transactions. Utilized database pessimistic locking (`lockForUpdate()`) on the wallet record to ensure serial balance updates.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Result:</a:t>
            </a:r>
            <a:r>
              <a:rPr b="0" sz="1200">
                <a:solidFill>
                  <a:srgbClr val="F9FAFB"/>
                </a:solidFill>
                <a:latin typeface="Calibri"/>
              </a:rPr>
              <a:t> Strong transaction isolation that prevents wallet race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E. Docker Windows Permissions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Running Sail inside WSL2 on Windows created permissions errors, blocking file writing in cache directories.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Updated the Dockerfile to set group permissions (775) on bootstrap/cache and storage directories. Designed a startup script (start.sh) to build links and cache settings dynamically on container boot.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3756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71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F. Cookie Consent Processing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Challenge:</a:t>
            </a:r>
            <a:r>
              <a:rPr b="0" sz="1200">
                <a:solidFill>
                  <a:srgbClr val="F9FAFB"/>
                </a:solidFill>
                <a:latin typeface="Calibri"/>
              </a:rPr>
              <a:t> Laravel encrypts cookies by default. Decrypting cookies client-side slowed down critical render times (FCP/LCP).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Resolution: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Crafted raw, lightweight JS cookies with standard Lax configuration (`SameSite=Lax`) to store preferences.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Benefit:</a:t>
            </a:r>
            <a:r>
              <a:rPr b="0" sz="1200">
                <a:solidFill>
                  <a:srgbClr val="F9FAFB"/>
                </a:solidFill>
                <a:latin typeface="Calibri"/>
              </a:rPr>
              <a:t> Consent validation runs instantaneously on DOMContentLoaded, providing instant UI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9. Automated 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Testing Strategy &amp; Infrastructure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Framework Choice:</a:t>
            </a:r>
            <a:r>
              <a:rPr b="0" sz="1200">
                <a:solidFill>
                  <a:srgbClr val="F9FAFB"/>
                </a:solidFill>
                <a:latin typeface="Calibri"/>
              </a:rPr>
              <a:t> Powered by PHPUnit integrated natively within Laravel's artisan test suite.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Database Isolation:</a:t>
            </a:r>
            <a:r>
              <a:rPr b="0" sz="1200">
                <a:solidFill>
                  <a:srgbClr val="F9FAFB"/>
                </a:solidFill>
                <a:latin typeface="Calibri"/>
              </a:rPr>
              <a:t> Utilizes an in-memory SQLite database connection (:memory:) for speed and isolation.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Unit Testing: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Verifies models and helpers (e.g. role check, formatPrice, ratings calculation, currency conversions).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Feature Testing:</a:t>
            </a:r>
            <a:r>
              <a:rPr b="0" sz="1200">
                <a:solidFill>
                  <a:srgbClr val="F9FAFB"/>
                </a:solidFill>
                <a:latin typeface="Calibri"/>
              </a:rPr>
              <a:t> Simulates user actions (guest vs. admin middleware, shopping recipes, balance deductions, order tracking).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Trebuchet MS"/>
              </a:defRPr>
            </a:pPr>
            <a:r>
              <a:t>Successful Metrics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  <a:latin typeface="Calibri"/>
              </a:rPr>
              <a:t>Total Test Cases:</a:t>
            </a:r>
            <a:r>
              <a:rPr b="0" sz="1200">
                <a:solidFill>
                  <a:srgbClr val="F9FAFB"/>
                </a:solidFill>
                <a:latin typeface="Calibri"/>
              </a:rPr>
              <a:t> 177 tests executed.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  <a:latin typeface="Calibri"/>
              </a:rPr>
              <a:t>Verification Assertions:</a:t>
            </a:r>
            <a:r>
              <a:rPr b="0" sz="1200">
                <a:solidFill>
                  <a:srgbClr val="F9FAFB"/>
                </a:solidFill>
                <a:latin typeface="Calibri"/>
              </a:rPr>
              <a:t> 253 unique assertions performed.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  <a:latin typeface="Calibri"/>
              </a:rPr>
              <a:t>Execution Performance:</a:t>
            </a:r>
            <a:r>
              <a:rPr b="0" sz="1200">
                <a:solidFill>
                  <a:srgbClr val="F9FAFB"/>
                </a:solidFill>
                <a:latin typeface="Calibri"/>
              </a:rPr>
              <a:t> Entire suite completes in ~8.03 seconds.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  <a:latin typeface="Calibri"/>
              </a:rPr>
              <a:t>Outcome Status:</a:t>
            </a:r>
            <a:r>
              <a:rPr b="0" sz="1200">
                <a:solidFill>
                  <a:srgbClr val="F9FAFB"/>
                </a:solidFill>
                <a:latin typeface="Calibri"/>
              </a:rPr>
              <a:t> 100% PASS rate. No failures, no errors.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  <a:latin typeface="Calibri"/>
              </a:rPr>
              <a:t>Deployment Safeguard:</a:t>
            </a:r>
            <a:r>
              <a:rPr b="0" sz="1200">
                <a:solidFill>
                  <a:srgbClr val="F9FAFB"/>
                </a:solidFill>
                <a:latin typeface="Calibri"/>
              </a:rPr>
              <a:t> Guarantees business rules, access control, and payment routines remain safe from regressions.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Trebuchet MS"/>
              </a:defRPr>
            </a:pPr>
            <a:r>
              <a:t>10. Project 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Core Achievements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Seamless Marketplace:</a:t>
            </a:r>
            <a:r>
              <a:rPr b="0" sz="1200">
                <a:solidFill>
                  <a:srgbClr val="F9FAFB"/>
                </a:solidFill>
                <a:latin typeface="Calibri"/>
              </a:rPr>
              <a:t> Successful link between customers, chefs, and platform admins with separated roles.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Modern Stack:</a:t>
            </a:r>
            <a:r>
              <a:rPr b="0" sz="1200">
                <a:solidFill>
                  <a:srgbClr val="F9FAFB"/>
                </a:solidFill>
                <a:latin typeface="Calibri"/>
              </a:rPr>
              <a:t> Built with Laravel 11, PostgreSQL, Redis caching, and WebSockets (Laravel Reverb).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Technical Elegance:</a:t>
            </a:r>
            <a:r>
              <a:rPr b="0" sz="1200">
                <a:solidFill>
                  <a:srgbClr val="F9FAFB"/>
                </a:solidFill>
                <a:latin typeface="Calibri"/>
              </a:rPr>
              <a:t> Dynamic currency conversions, zero-fee WebSocket fallback chat, and GDPR cookie banner.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Transaction Safety:</a:t>
            </a:r>
            <a:r>
              <a:rPr b="0" sz="1200">
                <a:solidFill>
                  <a:srgbClr val="F9FAFB"/>
                </a:solidFill>
                <a:latin typeface="Calibri"/>
              </a:rPr>
              <a:t> Pessimistic locking guards balance deductions against parallel double-spend exploits.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Lessons &amp; Next Steps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Standard Architecture:</a:t>
            </a:r>
            <a:r>
              <a:rPr b="0" sz="1200">
                <a:solidFill>
                  <a:srgbClr val="F9FAFB"/>
                </a:solidFill>
                <a:latin typeface="Calibri"/>
              </a:rPr>
              <a:t> Clean separation of concerns via MVC patterns ensures codebase readability.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Test Coverage:</a:t>
            </a:r>
            <a:r>
              <a:rPr b="0" sz="1200">
                <a:solidFill>
                  <a:srgbClr val="F9FAFB"/>
                </a:solidFill>
                <a:latin typeface="Calibri"/>
              </a:rPr>
              <a:t> Automated tests verify and document app behaviors.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b="1" sz="1200">
                <a:solidFill>
                  <a:srgbClr val="F59E0B"/>
                </a:solidFill>
                <a:latin typeface="Calibri"/>
              </a:rPr>
              <a:t>Future Roadmap:</a:t>
            </a:r>
            <a:r>
              <a:rPr b="0" sz="1200">
                <a:solidFill>
                  <a:srgbClr val="F9FAFB"/>
                </a:solidFill>
                <a:latin typeface="Calibri"/>
              </a:rPr>
              <a:t> Integrations with real payment gateways (Stripe/PayPal), native mobile apps, and video recipe streaming.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